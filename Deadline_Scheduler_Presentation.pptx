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the Deadline Scheduler project — an advanced algorithmic platform addressing both optimal Job Sequencing with Deadlines and critical-slot resilience analysis. We will cover the core mathematical formulation, our dual-engine solution, system architecture, interactive features, and live demo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formalize the problem. We are given n jobs, horizon H, and k blocked slots. While traditional algorithms stop at finding the baseline profit, our problem demands identifying the single most critical time slot whose loss produces the maximum drop in overall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appreciate the value of this research, consider real-world infrastructure. In cloud compute, spot instances vanish. In automated manufacturing, equipment maintenance interrupts production windows. In airport operations, weather closes runway slots. A system that knows its critical slot in advance can preemptively deploy reserves.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consists of two cleanly separated algorithmic tiers. Tier 1 computes the optimal baseline schedule using greedy backward slot assignment. Tier 2 conducts systematic single-slot failure perturbation. By reusing the sorted job list across all candidate evaluations, we achieve tight asymptotic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illustrates our full 5-stage pipeline. Notice step 2: we sort only once. Candidate rebuilding in step 4 reuses this sorted list, allowing each candidate pass to execute in O(n*H) time instead of O(n*H log n). The pipeline produces a deterministic 7-line output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establish formal proofs and computational bounds. The previous documentation in the literature often assumed O(H * n log n) by needlessly re-sorting jobs for every candidate. Because job ordering is invariant to slot loss, we sort once, achieving a clean O(n log n + n * H^2) runtime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system architecture is structured across three clean layers: a zero-dependency web dashboard at the top, a dual-runtime scheduling engine in the middle, and a cross-language parity harness at the bottom. This ensures algorithm correctness while delivering an accessible interactive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key user-facing features. The step-by-step visualizer lets students and engineers trace the backward scan in action. The critical-slot bar chart provides executive-level sensitivity analysis. The dual timeline allows instant visual comparison, and the live configurator enables dynamic sandbox experimentation.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Diving deeper into additional engineering features: we included an in-browser test runner, standardized CLI input/output support, responsive dark/light theming, and clean hash routing. These refinements make the tool immediately usable in both academic and production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details empirical impact. In Sample 1, both slot 1 and slot 2 tie at 27 profit loss. Our deterministic rule selects slot 1, retaining 115 profit. On the right, our test metrics show 100% cross-language parity across 120 randomized scenarios and sub-2 millisecond runtimes.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Accessing the platform is completely frictionless. You can open the live hosted web app at vennuprajwal.github.io/Deadline-Scheduler, launch dashboard.html locally on your machine with python http.server, or execute the CLI directly via standard pipes.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In summary, Deadline Scheduler provides a complete, mathematically verified, and interactive framework for optimal scheduling and critical-slot resilience analysis. We invite you to explore the GitHub repository, read code_doc.md, and test the live demo. We now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731520" y="731520"/>
            <a:ext cx="10728655" cy="5120640"/>
          </a:xfrm>
          <a:prstGeom prst="roundRect">
            <a:avLst>
              <a:gd name="adj" fmla="val 3571"/>
            </a:avLst>
          </a:prstGeom>
          <a:solidFill>
            <a:srgbClr val="0F172A"/>
          </a:solidFill>
          <a:ln w="19050">
            <a:solidFill>
              <a:srgbClr val="334155"/>
            </a:solidFill>
            <a:prstDash val="solid"/>
          </a:ln>
        </p:spPr>
      </p:sp>
      <p:sp>
        <p:nvSpPr>
          <p:cNvPr id="3" name="Shape 1"/>
          <p:cNvSpPr/>
          <p:nvPr/>
        </p:nvSpPr>
        <p:spPr>
          <a:xfrm>
            <a:off x="1280160" y="1188720"/>
            <a:ext cx="3291840" cy="365760"/>
          </a:xfrm>
          <a:prstGeom prst="roundRect">
            <a:avLst>
              <a:gd name="adj" fmla="val 50000"/>
            </a:avLst>
          </a:prstGeom>
          <a:solidFill>
            <a:srgbClr val="1E293B"/>
          </a:solidFill>
          <a:ln w="12700">
            <a:solidFill>
              <a:srgbClr val="38BDF8"/>
            </a:solidFill>
            <a:prstDash val="solid"/>
          </a:ln>
        </p:spPr>
      </p:sp>
      <p:sp>
        <p:nvSpPr>
          <p:cNvPr id="4" name="Text 2"/>
          <p:cNvSpPr/>
          <p:nvPr/>
        </p:nvSpPr>
        <p:spPr>
          <a:xfrm>
            <a:off x="1280160" y="1188720"/>
            <a:ext cx="3291840" cy="365760"/>
          </a:xfrm>
          <a:prstGeom prst="rect">
            <a:avLst/>
          </a:prstGeom>
          <a:noFill/>
          <a:ln/>
        </p:spPr>
        <p:txBody>
          <a:bodyPr wrap="square" rtlCol="0" anchor="ctr"/>
          <a:lstStyle/>
          <a:p>
            <a:pPr algn="ctr" indent="0" marL="0">
              <a:buNone/>
            </a:pPr>
            <a:r>
              <a:rPr lang="en-US" sz="900" b="1" dirty="0">
                <a:solidFill>
                  <a:srgbClr val="38BDF8"/>
                </a:solidFill>
                <a:latin typeface="Segoe UI" pitchFamily="34" charset="0"/>
                <a:ea typeface="Segoe UI" pitchFamily="34" charset="-122"/>
                <a:cs typeface="Segoe UI" pitchFamily="34" charset="-120"/>
              </a:rPr>
              <a:t>ALGORITHM LAB &amp; RESILIENCE PLATFORM</a:t>
            </a:r>
            <a:endParaRPr lang="en-US" sz="900" dirty="0"/>
          </a:p>
        </p:txBody>
      </p:sp>
      <p:sp>
        <p:nvSpPr>
          <p:cNvPr id="5" name="Text 3"/>
          <p:cNvSpPr/>
          <p:nvPr/>
        </p:nvSpPr>
        <p:spPr>
          <a:xfrm>
            <a:off x="1280160" y="1691640"/>
            <a:ext cx="9601200" cy="777240"/>
          </a:xfrm>
          <a:prstGeom prst="rect">
            <a:avLst/>
          </a:prstGeom>
          <a:noFill/>
          <a:ln/>
        </p:spPr>
        <p:txBody>
          <a:bodyPr wrap="square" rtlCol="0" anchor="ctr"/>
          <a:lstStyle/>
          <a:p>
            <a:pPr indent="0" marL="0">
              <a:buNone/>
            </a:pPr>
            <a:r>
              <a:rPr lang="en-US" sz="3800" b="1" dirty="0">
                <a:solidFill>
                  <a:srgbClr val="F8FAFC"/>
                </a:solidFill>
                <a:latin typeface="Segoe UI" pitchFamily="34" charset="0"/>
                <a:ea typeface="Segoe UI" pitchFamily="34" charset="-122"/>
                <a:cs typeface="Segoe UI" pitchFamily="34" charset="-120"/>
              </a:rPr>
              <a:t>Deadline Scheduler</a:t>
            </a:r>
            <a:endParaRPr lang="en-US" sz="3800" dirty="0"/>
          </a:p>
        </p:txBody>
      </p:sp>
      <p:sp>
        <p:nvSpPr>
          <p:cNvPr id="6" name="Text 4"/>
          <p:cNvSpPr/>
          <p:nvPr/>
        </p:nvSpPr>
        <p:spPr>
          <a:xfrm>
            <a:off x="1280160" y="2468880"/>
            <a:ext cx="9601200" cy="457200"/>
          </a:xfrm>
          <a:prstGeom prst="rect">
            <a:avLst/>
          </a:prstGeom>
          <a:noFill/>
          <a:ln/>
        </p:spPr>
        <p:txBody>
          <a:bodyPr wrap="square" rtlCol="0" anchor="ctr"/>
          <a:lstStyle/>
          <a:p>
            <a:pPr indent="0" marL="0">
              <a:buNone/>
            </a:pPr>
            <a:r>
              <a:rPr lang="en-US" sz="1600" b="1" dirty="0">
                <a:solidFill>
                  <a:srgbClr val="818CF8"/>
                </a:solidFill>
                <a:latin typeface="Segoe UI" pitchFamily="34" charset="0"/>
                <a:ea typeface="Segoe UI" pitchFamily="34" charset="-122"/>
                <a:cs typeface="Segoe UI" pitchFamily="34" charset="-120"/>
              </a:rPr>
              <a:t>Optimal Job Sequencing with Deadlines &amp; Critical Time Slot Resilience Analysis</a:t>
            </a:r>
            <a:endParaRPr lang="en-US" sz="1600" dirty="0"/>
          </a:p>
        </p:txBody>
      </p:sp>
      <p:sp>
        <p:nvSpPr>
          <p:cNvPr id="7" name="Text 5"/>
          <p:cNvSpPr/>
          <p:nvPr/>
        </p:nvSpPr>
        <p:spPr>
          <a:xfrm>
            <a:off x="1280160" y="2971800"/>
            <a:ext cx="9601200" cy="594360"/>
          </a:xfrm>
          <a:prstGeom prst="rect">
            <a:avLst/>
          </a:prstGeom>
          <a:noFill/>
          <a:ln/>
        </p:spPr>
        <p:txBody>
          <a:bodyPr wrap="square" rtlCol="0" anchor="ctr"/>
          <a:lstStyle/>
          <a:p>
            <a:pPr indent="0" marL="0">
              <a:buNone/>
            </a:pPr>
            <a:r>
              <a:rPr lang="en-US" sz="1300" dirty="0">
                <a:solidFill>
                  <a:srgbClr val="94A3B8"/>
                </a:solidFill>
                <a:latin typeface="Segoe UI" pitchFamily="34" charset="0"/>
                <a:ea typeface="Segoe UI" pitchFamily="34" charset="-122"/>
                <a:cs typeface="Segoe UI" pitchFamily="34" charset="-120"/>
              </a:rPr>
              <a:t>Building maximum-profit baseline schedules and identifying single-point time bottlenecks whose unexpected failure causes the catastrophic loss of operational yield.</a:t>
            </a:r>
            <a:endParaRPr lang="en-US" sz="1300" dirty="0"/>
          </a:p>
        </p:txBody>
      </p:sp>
      <p:sp>
        <p:nvSpPr>
          <p:cNvPr id="8" name="Shape 6"/>
          <p:cNvSpPr/>
          <p:nvPr/>
        </p:nvSpPr>
        <p:spPr>
          <a:xfrm>
            <a:off x="1280160" y="3749040"/>
            <a:ext cx="2240280" cy="1234440"/>
          </a:xfrm>
          <a:prstGeom prst="roundRect">
            <a:avLst>
              <a:gd name="adj" fmla="val 8889"/>
            </a:avLst>
          </a:prstGeom>
          <a:solidFill>
            <a:srgbClr val="1E293B"/>
          </a:solidFill>
          <a:ln w="12700">
            <a:solidFill>
              <a:srgbClr val="334155"/>
            </a:solidFill>
            <a:prstDash val="solid"/>
          </a:ln>
        </p:spPr>
      </p:sp>
      <p:sp>
        <p:nvSpPr>
          <p:cNvPr id="9" name="Text 7"/>
          <p:cNvSpPr/>
          <p:nvPr/>
        </p:nvSpPr>
        <p:spPr>
          <a:xfrm>
            <a:off x="1417320" y="3913632"/>
            <a:ext cx="1965960" cy="32004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Optimal Greedy Engine</a:t>
            </a:r>
            <a:endParaRPr lang="en-US" sz="1100" dirty="0"/>
          </a:p>
        </p:txBody>
      </p:sp>
      <p:sp>
        <p:nvSpPr>
          <p:cNvPr id="10" name="Text 8"/>
          <p:cNvSpPr/>
          <p:nvPr/>
        </p:nvSpPr>
        <p:spPr>
          <a:xfrm>
            <a:off x="1417320" y="4251960"/>
            <a:ext cx="1965960" cy="6400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Exchange-optimal backward slot allocation with tie-breaking</a:t>
            </a:r>
            <a:endParaRPr lang="en-US" sz="950" dirty="0"/>
          </a:p>
        </p:txBody>
      </p:sp>
      <p:sp>
        <p:nvSpPr>
          <p:cNvPr id="11" name="Shape 9"/>
          <p:cNvSpPr/>
          <p:nvPr/>
        </p:nvSpPr>
        <p:spPr>
          <a:xfrm>
            <a:off x="3703320" y="3749040"/>
            <a:ext cx="2240280" cy="1234440"/>
          </a:xfrm>
          <a:prstGeom prst="roundRect">
            <a:avLst>
              <a:gd name="adj" fmla="val 8889"/>
            </a:avLst>
          </a:prstGeom>
          <a:solidFill>
            <a:srgbClr val="1E293B"/>
          </a:solidFill>
          <a:ln w="12700">
            <a:solidFill>
              <a:srgbClr val="334155"/>
            </a:solidFill>
            <a:prstDash val="solid"/>
          </a:ln>
        </p:spPr>
      </p:sp>
      <p:sp>
        <p:nvSpPr>
          <p:cNvPr id="12" name="Text 10"/>
          <p:cNvSpPr/>
          <p:nvPr/>
        </p:nvSpPr>
        <p:spPr>
          <a:xfrm>
            <a:off x="3840480" y="3913632"/>
            <a:ext cx="1965960" cy="320040"/>
          </a:xfrm>
          <a:prstGeom prst="rect">
            <a:avLst/>
          </a:prstGeom>
          <a:noFill/>
          <a:ln/>
        </p:spPr>
        <p:txBody>
          <a:bodyPr wrap="square" rtlCol="0" anchor="ctr"/>
          <a:lstStyle/>
          <a:p>
            <a:pPr indent="0" marL="0">
              <a:buNone/>
            </a:pPr>
            <a:r>
              <a:rPr lang="en-US" sz="1100" b="1" dirty="0">
                <a:solidFill>
                  <a:srgbClr val="F43F5E"/>
                </a:solidFill>
                <a:latin typeface="Segoe UI" pitchFamily="34" charset="0"/>
                <a:ea typeface="Segoe UI" pitchFamily="34" charset="-122"/>
                <a:cs typeface="Segoe UI" pitchFamily="34" charset="-120"/>
              </a:rPr>
              <a:t>Critical Slot Search</a:t>
            </a:r>
            <a:endParaRPr lang="en-US" sz="1100" dirty="0"/>
          </a:p>
        </p:txBody>
      </p:sp>
      <p:sp>
        <p:nvSpPr>
          <p:cNvPr id="13" name="Text 11"/>
          <p:cNvSpPr/>
          <p:nvPr/>
        </p:nvSpPr>
        <p:spPr>
          <a:xfrm>
            <a:off x="3840480" y="4251960"/>
            <a:ext cx="1965960" cy="6400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Exhaustive perturbation testing with deterministic tie-break</a:t>
            </a:r>
            <a:endParaRPr lang="en-US" sz="950" dirty="0"/>
          </a:p>
        </p:txBody>
      </p:sp>
      <p:sp>
        <p:nvSpPr>
          <p:cNvPr id="14" name="Shape 12"/>
          <p:cNvSpPr/>
          <p:nvPr/>
        </p:nvSpPr>
        <p:spPr>
          <a:xfrm>
            <a:off x="6126480" y="3749040"/>
            <a:ext cx="2240280" cy="1234440"/>
          </a:xfrm>
          <a:prstGeom prst="roundRect">
            <a:avLst>
              <a:gd name="adj" fmla="val 8889"/>
            </a:avLst>
          </a:prstGeom>
          <a:solidFill>
            <a:srgbClr val="1E293B"/>
          </a:solidFill>
          <a:ln w="12700">
            <a:solidFill>
              <a:srgbClr val="334155"/>
            </a:solidFill>
            <a:prstDash val="solid"/>
          </a:ln>
        </p:spPr>
      </p:sp>
      <p:sp>
        <p:nvSpPr>
          <p:cNvPr id="15" name="Text 13"/>
          <p:cNvSpPr/>
          <p:nvPr/>
        </p:nvSpPr>
        <p:spPr>
          <a:xfrm>
            <a:off x="6263640" y="3913632"/>
            <a:ext cx="1965960" cy="320040"/>
          </a:xfrm>
          <a:prstGeom prst="rect">
            <a:avLst/>
          </a:prstGeom>
          <a:noFill/>
          <a:ln/>
        </p:spPr>
        <p:txBody>
          <a:bodyPr wrap="square" rtlCol="0" anchor="ctr"/>
          <a:lstStyle/>
          <a:p>
            <a:pPr indent="0" marL="0">
              <a:buNone/>
            </a:pPr>
            <a:r>
              <a:rPr lang="en-US" sz="1100" b="1" dirty="0">
                <a:solidFill>
                  <a:srgbClr val="10B981"/>
                </a:solidFill>
                <a:latin typeface="Segoe UI" pitchFamily="34" charset="0"/>
                <a:ea typeface="Segoe UI" pitchFamily="34" charset="-122"/>
                <a:cs typeface="Segoe UI" pitchFamily="34" charset="-120"/>
              </a:rPr>
              <a:t>Dual-Runtime Parity</a:t>
            </a:r>
            <a:endParaRPr lang="en-US" sz="1100" dirty="0"/>
          </a:p>
        </p:txBody>
      </p:sp>
      <p:sp>
        <p:nvSpPr>
          <p:cNvPr id="16" name="Text 14"/>
          <p:cNvSpPr/>
          <p:nvPr/>
        </p:nvSpPr>
        <p:spPr>
          <a:xfrm>
            <a:off x="6263640" y="4251960"/>
            <a:ext cx="1965960" cy="6400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100% verified across Python reference &amp; JavaScript engine</a:t>
            </a:r>
            <a:endParaRPr lang="en-US" sz="950" dirty="0"/>
          </a:p>
        </p:txBody>
      </p:sp>
      <p:sp>
        <p:nvSpPr>
          <p:cNvPr id="17" name="Shape 15"/>
          <p:cNvSpPr/>
          <p:nvPr/>
        </p:nvSpPr>
        <p:spPr>
          <a:xfrm>
            <a:off x="8549640" y="3749040"/>
            <a:ext cx="2240280" cy="1234440"/>
          </a:xfrm>
          <a:prstGeom prst="roundRect">
            <a:avLst>
              <a:gd name="adj" fmla="val 8889"/>
            </a:avLst>
          </a:prstGeom>
          <a:solidFill>
            <a:srgbClr val="1E293B"/>
          </a:solidFill>
          <a:ln w="12700">
            <a:solidFill>
              <a:srgbClr val="334155"/>
            </a:solidFill>
            <a:prstDash val="solid"/>
          </a:ln>
        </p:spPr>
      </p:sp>
      <p:sp>
        <p:nvSpPr>
          <p:cNvPr id="18" name="Text 16"/>
          <p:cNvSpPr/>
          <p:nvPr/>
        </p:nvSpPr>
        <p:spPr>
          <a:xfrm>
            <a:off x="8686800" y="3913632"/>
            <a:ext cx="1965960" cy="320040"/>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Interactive Dashboard</a:t>
            </a:r>
            <a:endParaRPr lang="en-US" sz="1100" dirty="0"/>
          </a:p>
        </p:txBody>
      </p:sp>
      <p:sp>
        <p:nvSpPr>
          <p:cNvPr id="19" name="Text 17"/>
          <p:cNvSpPr/>
          <p:nvPr/>
        </p:nvSpPr>
        <p:spPr>
          <a:xfrm>
            <a:off x="8686800" y="4251960"/>
            <a:ext cx="1965960" cy="6400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Zero-dependency SPA with step visualizer &amp; sensitivity chart</a:t>
            </a:r>
            <a:endParaRPr lang="en-US" sz="950" dirty="0"/>
          </a:p>
        </p:txBody>
      </p:sp>
      <p:sp>
        <p:nvSpPr>
          <p:cNvPr id="20" name="Text 18"/>
          <p:cNvSpPr/>
          <p:nvPr/>
        </p:nvSpPr>
        <p:spPr>
          <a:xfrm>
            <a:off x="1280160" y="5257800"/>
            <a:ext cx="9601200" cy="320040"/>
          </a:xfrm>
          <a:prstGeom prst="rect">
            <a:avLst/>
          </a:prstGeom>
          <a:noFill/>
          <a:ln/>
        </p:spPr>
        <p:txBody>
          <a:bodyPr wrap="square" rtlCol="0" anchor="ctr"/>
          <a:lstStyle/>
          <a:p>
            <a:pPr indent="0" marL="0">
              <a:buNone/>
            </a:pPr>
            <a:r>
              <a:rPr lang="en-US" sz="1050" dirty="0">
                <a:solidFill>
                  <a:srgbClr val="64748B"/>
                </a:solidFill>
                <a:latin typeface="Segoe UI" pitchFamily="34" charset="0"/>
                <a:ea typeface="Segoe UI" pitchFamily="34" charset="-122"/>
                <a:cs typeface="Segoe UI" pitchFamily="34" charset="-120"/>
              </a:rPr>
              <a:t>Author: vennuprajwal • Project: Design &amp; Analysis of Algorithms Lab • Live: vennuprajwal.github.io/Deadline-Scheduler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01 / PROBLEM STATEMENT</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The Challenge: Job Sequencing &amp; Slot Fragility</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Balancing profit maximization against the vulnerability of unexpected slot losses.</a:t>
            </a:r>
            <a:endParaRPr lang="en-US" sz="1200" dirty="0"/>
          </a:p>
        </p:txBody>
      </p:sp>
      <p:sp>
        <p:nvSpPr>
          <p:cNvPr id="5" name="Shape 3"/>
          <p:cNvSpPr/>
          <p:nvPr/>
        </p:nvSpPr>
        <p:spPr>
          <a:xfrm>
            <a:off x="731520" y="1554480"/>
            <a:ext cx="3413455" cy="4389120"/>
          </a:xfrm>
          <a:prstGeom prst="roundRect">
            <a:avLst>
              <a:gd name="adj" fmla="val 3215"/>
            </a:avLst>
          </a:prstGeom>
          <a:solidFill>
            <a:srgbClr val="1E293B"/>
          </a:solidFill>
          <a:ln w="12700">
            <a:solidFill>
              <a:srgbClr val="334155"/>
            </a:solidFill>
            <a:prstDash val="solid"/>
          </a:ln>
        </p:spPr>
      </p:sp>
      <p:sp>
        <p:nvSpPr>
          <p:cNvPr id="6" name="Text 4"/>
          <p:cNvSpPr/>
          <p:nvPr/>
        </p:nvSpPr>
        <p:spPr>
          <a:xfrm>
            <a:off x="960120" y="1755648"/>
            <a:ext cx="2956255" cy="228600"/>
          </a:xfrm>
          <a:prstGeom prst="rect">
            <a:avLst/>
          </a:prstGeom>
          <a:noFill/>
          <a:ln/>
        </p:spPr>
        <p:txBody>
          <a:bodyPr wrap="square" rtlCol="0" anchor="ctr"/>
          <a:lstStyle/>
          <a:p>
            <a:pPr indent="0" marL="0">
              <a:buNone/>
            </a:pPr>
            <a:r>
              <a:rPr lang="en-US" sz="900" b="1" dirty="0">
                <a:solidFill>
                  <a:srgbClr val="38BDF8"/>
                </a:solidFill>
                <a:latin typeface="Segoe UI" pitchFamily="34" charset="0"/>
                <a:ea typeface="Segoe UI" pitchFamily="34" charset="-122"/>
                <a:cs typeface="Segoe UI" pitchFamily="34" charset="-120"/>
              </a:rPr>
              <a:t>FOUNDATION</a:t>
            </a:r>
            <a:endParaRPr lang="en-US" sz="900" dirty="0"/>
          </a:p>
        </p:txBody>
      </p:sp>
      <p:sp>
        <p:nvSpPr>
          <p:cNvPr id="7" name="Text 5"/>
          <p:cNvSpPr/>
          <p:nvPr/>
        </p:nvSpPr>
        <p:spPr>
          <a:xfrm>
            <a:off x="960120" y="1993392"/>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1. Classic Job Sequencing</a:t>
            </a:r>
            <a:endParaRPr lang="en-US" sz="1400" dirty="0"/>
          </a:p>
        </p:txBody>
      </p:sp>
      <p:sp>
        <p:nvSpPr>
          <p:cNvPr id="8" name="Shape 6"/>
          <p:cNvSpPr/>
          <p:nvPr/>
        </p:nvSpPr>
        <p:spPr>
          <a:xfrm>
            <a:off x="960120" y="2560320"/>
            <a:ext cx="73152" cy="73152"/>
          </a:xfrm>
          <a:prstGeom prst="ellipse">
            <a:avLst/>
          </a:prstGeom>
          <a:solidFill>
            <a:srgbClr val="38BDF8"/>
          </a:solidFill>
          <a:ln w="12700">
            <a:solidFill>
              <a:srgbClr val="38BDF8"/>
            </a:solidFill>
            <a:prstDash val="solid"/>
          </a:ln>
        </p:spPr>
      </p:sp>
      <p:sp>
        <p:nvSpPr>
          <p:cNvPr id="9" name="Text 7"/>
          <p:cNvSpPr/>
          <p:nvPr/>
        </p:nvSpPr>
        <p:spPr>
          <a:xfrm>
            <a:off x="1143000" y="2450592"/>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n jobs with unique IDs, deadline d in [1..H], and profit p &gt; 0.</a:t>
            </a:r>
            <a:endParaRPr lang="en-US" sz="1050" dirty="0"/>
          </a:p>
        </p:txBody>
      </p:sp>
      <p:sp>
        <p:nvSpPr>
          <p:cNvPr id="10" name="Shape 8"/>
          <p:cNvSpPr/>
          <p:nvPr/>
        </p:nvSpPr>
        <p:spPr>
          <a:xfrm>
            <a:off x="960120" y="3364992"/>
            <a:ext cx="73152" cy="73152"/>
          </a:xfrm>
          <a:prstGeom prst="ellipse">
            <a:avLst/>
          </a:prstGeom>
          <a:solidFill>
            <a:srgbClr val="38BDF8"/>
          </a:solidFill>
          <a:ln w="12700">
            <a:solidFill>
              <a:srgbClr val="38BDF8"/>
            </a:solidFill>
            <a:prstDash val="solid"/>
          </a:ln>
        </p:spPr>
      </p:sp>
      <p:sp>
        <p:nvSpPr>
          <p:cNvPr id="11" name="Text 9"/>
          <p:cNvSpPr/>
          <p:nvPr/>
        </p:nvSpPr>
        <p:spPr>
          <a:xfrm>
            <a:off x="1143000" y="3255264"/>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Unit execution: Each job requires exactly one discrete time slot.</a:t>
            </a:r>
            <a:endParaRPr lang="en-US" sz="1050" dirty="0"/>
          </a:p>
        </p:txBody>
      </p:sp>
      <p:sp>
        <p:nvSpPr>
          <p:cNvPr id="12" name="Shape 10"/>
          <p:cNvSpPr/>
          <p:nvPr/>
        </p:nvSpPr>
        <p:spPr>
          <a:xfrm>
            <a:off x="960120" y="4169664"/>
            <a:ext cx="73152" cy="73152"/>
          </a:xfrm>
          <a:prstGeom prst="ellipse">
            <a:avLst/>
          </a:prstGeom>
          <a:solidFill>
            <a:srgbClr val="38BDF8"/>
          </a:solidFill>
          <a:ln w="12700">
            <a:solidFill>
              <a:srgbClr val="38BDF8"/>
            </a:solidFill>
            <a:prstDash val="solid"/>
          </a:ln>
        </p:spPr>
      </p:sp>
      <p:sp>
        <p:nvSpPr>
          <p:cNvPr id="13" name="Text 11"/>
          <p:cNvSpPr/>
          <p:nvPr/>
        </p:nvSpPr>
        <p:spPr>
          <a:xfrm>
            <a:off x="1143000" y="4059936"/>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Feasibility condition: A job must be scheduled on or before its deadline (slot &lt;= d).</a:t>
            </a:r>
            <a:endParaRPr lang="en-US" sz="1050" dirty="0"/>
          </a:p>
        </p:txBody>
      </p:sp>
      <p:sp>
        <p:nvSpPr>
          <p:cNvPr id="14" name="Shape 12"/>
          <p:cNvSpPr/>
          <p:nvPr/>
        </p:nvSpPr>
        <p:spPr>
          <a:xfrm>
            <a:off x="960120" y="4974336"/>
            <a:ext cx="73152" cy="73152"/>
          </a:xfrm>
          <a:prstGeom prst="ellipse">
            <a:avLst/>
          </a:prstGeom>
          <a:solidFill>
            <a:srgbClr val="38BDF8"/>
          </a:solidFill>
          <a:ln w="12700">
            <a:solidFill>
              <a:srgbClr val="38BDF8"/>
            </a:solidFill>
            <a:prstDash val="solid"/>
          </a:ln>
        </p:spPr>
      </p:sp>
      <p:sp>
        <p:nvSpPr>
          <p:cNvPr id="15" name="Text 13"/>
          <p:cNvSpPr/>
          <p:nvPr/>
        </p:nvSpPr>
        <p:spPr>
          <a:xfrm>
            <a:off x="1143000" y="4864608"/>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Capacity constraint: Each time slot holds at most one job. Rejected jobs yield zero profit.</a:t>
            </a:r>
            <a:endParaRPr lang="en-US" sz="1050" dirty="0"/>
          </a:p>
        </p:txBody>
      </p:sp>
      <p:sp>
        <p:nvSpPr>
          <p:cNvPr id="16" name="Shape 14"/>
          <p:cNvSpPr/>
          <p:nvPr/>
        </p:nvSpPr>
        <p:spPr>
          <a:xfrm>
            <a:off x="4389120" y="1554480"/>
            <a:ext cx="3413455" cy="4389120"/>
          </a:xfrm>
          <a:prstGeom prst="roundRect">
            <a:avLst>
              <a:gd name="adj" fmla="val 3215"/>
            </a:avLst>
          </a:prstGeom>
          <a:solidFill>
            <a:srgbClr val="1E293B"/>
          </a:solidFill>
          <a:ln w="12700">
            <a:solidFill>
              <a:srgbClr val="334155"/>
            </a:solidFill>
            <a:prstDash val="solid"/>
          </a:ln>
        </p:spPr>
      </p:sp>
      <p:sp>
        <p:nvSpPr>
          <p:cNvPr id="17" name="Text 15"/>
          <p:cNvSpPr/>
          <p:nvPr/>
        </p:nvSpPr>
        <p:spPr>
          <a:xfrm>
            <a:off x="4617720" y="1755648"/>
            <a:ext cx="2956255" cy="228600"/>
          </a:xfrm>
          <a:prstGeom prst="rect">
            <a:avLst/>
          </a:prstGeom>
          <a:noFill/>
          <a:ln/>
        </p:spPr>
        <p:txBody>
          <a:bodyPr wrap="square" rtlCol="0" anchor="ctr"/>
          <a:lstStyle/>
          <a:p>
            <a:pPr indent="0" marL="0">
              <a:buNone/>
            </a:pPr>
            <a:r>
              <a:rPr lang="en-US" sz="900" b="1" dirty="0">
                <a:solidFill>
                  <a:srgbClr val="F43F5E"/>
                </a:solidFill>
                <a:latin typeface="Segoe UI" pitchFamily="34" charset="0"/>
                <a:ea typeface="Segoe UI" pitchFamily="34" charset="-122"/>
                <a:cs typeface="Segoe UI" pitchFamily="34" charset="-120"/>
              </a:rPr>
              <a:t>THE BOTTLENECK</a:t>
            </a:r>
            <a:endParaRPr lang="en-US" sz="900" dirty="0"/>
          </a:p>
        </p:txBody>
      </p:sp>
      <p:sp>
        <p:nvSpPr>
          <p:cNvPr id="18" name="Text 16"/>
          <p:cNvSpPr/>
          <p:nvPr/>
        </p:nvSpPr>
        <p:spPr>
          <a:xfrm>
            <a:off x="4617720" y="1993392"/>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2. The Fragility Vulnerability</a:t>
            </a:r>
            <a:endParaRPr lang="en-US" sz="1400" dirty="0"/>
          </a:p>
        </p:txBody>
      </p:sp>
      <p:sp>
        <p:nvSpPr>
          <p:cNvPr id="19" name="Shape 17"/>
          <p:cNvSpPr/>
          <p:nvPr/>
        </p:nvSpPr>
        <p:spPr>
          <a:xfrm>
            <a:off x="4617720" y="2560320"/>
            <a:ext cx="73152" cy="73152"/>
          </a:xfrm>
          <a:prstGeom prst="ellipse">
            <a:avLst/>
          </a:prstGeom>
          <a:solidFill>
            <a:srgbClr val="F43F5E"/>
          </a:solidFill>
          <a:ln w="12700">
            <a:solidFill>
              <a:srgbClr val="F43F5E"/>
            </a:solidFill>
            <a:prstDash val="solid"/>
          </a:ln>
        </p:spPr>
      </p:sp>
      <p:sp>
        <p:nvSpPr>
          <p:cNvPr id="20" name="Text 18"/>
          <p:cNvSpPr/>
          <p:nvPr/>
        </p:nvSpPr>
        <p:spPr>
          <a:xfrm>
            <a:off x="4800600" y="2450592"/>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Traditional algorithms assume static, guaranteed time slot availability.</a:t>
            </a:r>
            <a:endParaRPr lang="en-US" sz="1050" dirty="0"/>
          </a:p>
        </p:txBody>
      </p:sp>
      <p:sp>
        <p:nvSpPr>
          <p:cNvPr id="21" name="Shape 19"/>
          <p:cNvSpPr/>
          <p:nvPr/>
        </p:nvSpPr>
        <p:spPr>
          <a:xfrm>
            <a:off x="4617720" y="3364992"/>
            <a:ext cx="73152" cy="73152"/>
          </a:xfrm>
          <a:prstGeom prst="ellipse">
            <a:avLst/>
          </a:prstGeom>
          <a:solidFill>
            <a:srgbClr val="F43F5E"/>
          </a:solidFill>
          <a:ln w="12700">
            <a:solidFill>
              <a:srgbClr val="F43F5E"/>
            </a:solidFill>
            <a:prstDash val="solid"/>
          </a:ln>
        </p:spPr>
      </p:sp>
      <p:sp>
        <p:nvSpPr>
          <p:cNvPr id="22" name="Text 20"/>
          <p:cNvSpPr/>
          <p:nvPr/>
        </p:nvSpPr>
        <p:spPr>
          <a:xfrm>
            <a:off x="4800600" y="3255264"/>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In reality, pre-existing unavailable slots (k) restrict execution up front.</a:t>
            </a:r>
            <a:endParaRPr lang="en-US" sz="1050" dirty="0"/>
          </a:p>
        </p:txBody>
      </p:sp>
      <p:sp>
        <p:nvSpPr>
          <p:cNvPr id="23" name="Shape 21"/>
          <p:cNvSpPr/>
          <p:nvPr/>
        </p:nvSpPr>
        <p:spPr>
          <a:xfrm>
            <a:off x="4617720" y="4169664"/>
            <a:ext cx="73152" cy="73152"/>
          </a:xfrm>
          <a:prstGeom prst="ellipse">
            <a:avLst/>
          </a:prstGeom>
          <a:solidFill>
            <a:srgbClr val="F43F5E"/>
          </a:solidFill>
          <a:ln w="12700">
            <a:solidFill>
              <a:srgbClr val="F43F5E"/>
            </a:solidFill>
            <a:prstDash val="solid"/>
          </a:ln>
        </p:spPr>
      </p:sp>
      <p:sp>
        <p:nvSpPr>
          <p:cNvPr id="24" name="Text 22"/>
          <p:cNvSpPr/>
          <p:nvPr/>
        </p:nvSpPr>
        <p:spPr>
          <a:xfrm>
            <a:off x="4800600" y="4059936"/>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Worst-case risk: What happens when an operating slot unexpectedly goes offline?</a:t>
            </a:r>
            <a:endParaRPr lang="en-US" sz="1050" dirty="0"/>
          </a:p>
        </p:txBody>
      </p:sp>
      <p:sp>
        <p:nvSpPr>
          <p:cNvPr id="25" name="Shape 23"/>
          <p:cNvSpPr/>
          <p:nvPr/>
        </p:nvSpPr>
        <p:spPr>
          <a:xfrm>
            <a:off x="4617720" y="4974336"/>
            <a:ext cx="73152" cy="73152"/>
          </a:xfrm>
          <a:prstGeom prst="ellipse">
            <a:avLst/>
          </a:prstGeom>
          <a:solidFill>
            <a:srgbClr val="F43F5E"/>
          </a:solidFill>
          <a:ln w="12700">
            <a:solidFill>
              <a:srgbClr val="F43F5E"/>
            </a:solidFill>
            <a:prstDash val="solid"/>
          </a:ln>
        </p:spPr>
      </p:sp>
      <p:sp>
        <p:nvSpPr>
          <p:cNvPr id="26" name="Text 24"/>
          <p:cNvSpPr/>
          <p:nvPr/>
        </p:nvSpPr>
        <p:spPr>
          <a:xfrm>
            <a:off x="4800600" y="4864608"/>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Standard schedules lack resilience: The loss of one key slot can trigger cascading job rejections.</a:t>
            </a:r>
            <a:endParaRPr lang="en-US" sz="1050" dirty="0"/>
          </a:p>
        </p:txBody>
      </p:sp>
      <p:sp>
        <p:nvSpPr>
          <p:cNvPr id="27" name="Shape 25"/>
          <p:cNvSpPr/>
          <p:nvPr/>
        </p:nvSpPr>
        <p:spPr>
          <a:xfrm>
            <a:off x="8046720" y="1554480"/>
            <a:ext cx="3413455" cy="4389120"/>
          </a:xfrm>
          <a:prstGeom prst="roundRect">
            <a:avLst>
              <a:gd name="adj" fmla="val 3215"/>
            </a:avLst>
          </a:prstGeom>
          <a:solidFill>
            <a:srgbClr val="1E293B"/>
          </a:solidFill>
          <a:ln w="12700">
            <a:solidFill>
              <a:srgbClr val="334155"/>
            </a:solidFill>
            <a:prstDash val="solid"/>
          </a:ln>
        </p:spPr>
      </p:sp>
      <p:sp>
        <p:nvSpPr>
          <p:cNvPr id="28" name="Text 26"/>
          <p:cNvSpPr/>
          <p:nvPr/>
        </p:nvSpPr>
        <p:spPr>
          <a:xfrm>
            <a:off x="8275320" y="1755648"/>
            <a:ext cx="2956255" cy="228600"/>
          </a:xfrm>
          <a:prstGeom prst="rect">
            <a:avLst/>
          </a:prstGeom>
          <a:noFill/>
          <a:ln/>
        </p:spPr>
        <p:txBody>
          <a:bodyPr wrap="square" rtlCol="0" anchor="ctr"/>
          <a:lstStyle/>
          <a:p>
            <a:pPr indent="0" marL="0">
              <a:buNone/>
            </a:pPr>
            <a:r>
              <a:rPr lang="en-US" sz="900" b="1" dirty="0">
                <a:solidFill>
                  <a:srgbClr val="F59E0B"/>
                </a:solidFill>
                <a:latin typeface="Segoe UI" pitchFamily="34" charset="0"/>
                <a:ea typeface="Segoe UI" pitchFamily="34" charset="-122"/>
                <a:cs typeface="Segoe UI" pitchFamily="34" charset="-120"/>
              </a:rPr>
              <a:t>OBJECTIVES</a:t>
            </a:r>
            <a:endParaRPr lang="en-US" sz="900" dirty="0"/>
          </a:p>
        </p:txBody>
      </p:sp>
      <p:sp>
        <p:nvSpPr>
          <p:cNvPr id="29" name="Text 27"/>
          <p:cNvSpPr/>
          <p:nvPr/>
        </p:nvSpPr>
        <p:spPr>
          <a:xfrm>
            <a:off x="8275320" y="1993392"/>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3. Dual-Objective Mission</a:t>
            </a:r>
            <a:endParaRPr lang="en-US" sz="1400" dirty="0"/>
          </a:p>
        </p:txBody>
      </p:sp>
      <p:sp>
        <p:nvSpPr>
          <p:cNvPr id="30" name="Shape 28"/>
          <p:cNvSpPr/>
          <p:nvPr/>
        </p:nvSpPr>
        <p:spPr>
          <a:xfrm>
            <a:off x="8275320" y="2560320"/>
            <a:ext cx="73152" cy="73152"/>
          </a:xfrm>
          <a:prstGeom prst="ellipse">
            <a:avLst/>
          </a:prstGeom>
          <a:solidFill>
            <a:srgbClr val="F59E0B"/>
          </a:solidFill>
          <a:ln w="12700">
            <a:solidFill>
              <a:srgbClr val="F59E0B"/>
            </a:solidFill>
            <a:prstDash val="solid"/>
          </a:ln>
        </p:spPr>
      </p:sp>
      <p:sp>
        <p:nvSpPr>
          <p:cNvPr id="31" name="Text 29"/>
          <p:cNvSpPr/>
          <p:nvPr/>
        </p:nvSpPr>
        <p:spPr>
          <a:xfrm>
            <a:off x="8458200" y="2450592"/>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Objective 1: Compute maximum baseline profit and slot assignments.</a:t>
            </a:r>
            <a:endParaRPr lang="en-US" sz="1050" dirty="0"/>
          </a:p>
        </p:txBody>
      </p:sp>
      <p:sp>
        <p:nvSpPr>
          <p:cNvPr id="32" name="Shape 30"/>
          <p:cNvSpPr/>
          <p:nvPr/>
        </p:nvSpPr>
        <p:spPr>
          <a:xfrm>
            <a:off x="8275320" y="3364992"/>
            <a:ext cx="73152" cy="73152"/>
          </a:xfrm>
          <a:prstGeom prst="ellipse">
            <a:avLst/>
          </a:prstGeom>
          <a:solidFill>
            <a:srgbClr val="F59E0B"/>
          </a:solidFill>
          <a:ln w="12700">
            <a:solidFill>
              <a:srgbClr val="F59E0B"/>
            </a:solidFill>
            <a:prstDash val="solid"/>
          </a:ln>
        </p:spPr>
      </p:sp>
      <p:sp>
        <p:nvSpPr>
          <p:cNvPr id="33" name="Text 31"/>
          <p:cNvSpPr/>
          <p:nvPr/>
        </p:nvSpPr>
        <p:spPr>
          <a:xfrm>
            <a:off x="8458200" y="3255264"/>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Objective 2: Enumerate rejected jobs in strict input order.</a:t>
            </a:r>
            <a:endParaRPr lang="en-US" sz="1050" dirty="0"/>
          </a:p>
        </p:txBody>
      </p:sp>
      <p:sp>
        <p:nvSpPr>
          <p:cNvPr id="34" name="Shape 32"/>
          <p:cNvSpPr/>
          <p:nvPr/>
        </p:nvSpPr>
        <p:spPr>
          <a:xfrm>
            <a:off x="8275320" y="4169664"/>
            <a:ext cx="73152" cy="73152"/>
          </a:xfrm>
          <a:prstGeom prst="ellipse">
            <a:avLst/>
          </a:prstGeom>
          <a:solidFill>
            <a:srgbClr val="F59E0B"/>
          </a:solidFill>
          <a:ln w="12700">
            <a:solidFill>
              <a:srgbClr val="F59E0B"/>
            </a:solidFill>
            <a:prstDash val="solid"/>
          </a:ln>
        </p:spPr>
      </p:sp>
      <p:sp>
        <p:nvSpPr>
          <p:cNvPr id="35" name="Text 33"/>
          <p:cNvSpPr/>
          <p:nvPr/>
        </p:nvSpPr>
        <p:spPr>
          <a:xfrm>
            <a:off x="8458200" y="4059936"/>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Objective 3: Identify the Critical Slot — the available slot whose loss maximizes profit drop.</a:t>
            </a:r>
            <a:endParaRPr lang="en-US" sz="1050" dirty="0"/>
          </a:p>
        </p:txBody>
      </p:sp>
      <p:sp>
        <p:nvSpPr>
          <p:cNvPr id="36" name="Shape 34"/>
          <p:cNvSpPr/>
          <p:nvPr/>
        </p:nvSpPr>
        <p:spPr>
          <a:xfrm>
            <a:off x="8275320" y="4974336"/>
            <a:ext cx="73152" cy="73152"/>
          </a:xfrm>
          <a:prstGeom prst="ellipse">
            <a:avLst/>
          </a:prstGeom>
          <a:solidFill>
            <a:srgbClr val="F59E0B"/>
          </a:solidFill>
          <a:ln w="12700">
            <a:solidFill>
              <a:srgbClr val="F59E0B"/>
            </a:solidFill>
            <a:prstDash val="solid"/>
          </a:ln>
        </p:spPr>
      </p:sp>
      <p:sp>
        <p:nvSpPr>
          <p:cNvPr id="37" name="Text 35"/>
          <p:cNvSpPr/>
          <p:nvPr/>
        </p:nvSpPr>
        <p:spPr>
          <a:xfrm>
            <a:off x="8458200" y="4864608"/>
            <a:ext cx="2773375" cy="7315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Tie-breaking: Deterministically resolve equal-loss ties using the smallest slot index.</a:t>
            </a:r>
            <a:endParaRPr lang="en-US" sz="1050" dirty="0"/>
          </a:p>
        </p:txBody>
      </p:sp>
      <p:sp>
        <p:nvSpPr>
          <p:cNvPr id="38" name="Shape 36"/>
          <p:cNvSpPr/>
          <p:nvPr/>
        </p:nvSpPr>
        <p:spPr>
          <a:xfrm>
            <a:off x="731520" y="6355080"/>
            <a:ext cx="10728655" cy="0"/>
          </a:xfrm>
          <a:prstGeom prst="line">
            <a:avLst/>
          </a:prstGeom>
          <a:noFill/>
          <a:ln w="9525">
            <a:solidFill>
              <a:srgbClr val="334155"/>
            </a:solidFill>
            <a:prstDash val="solid"/>
          </a:ln>
        </p:spPr>
      </p:sp>
      <p:sp>
        <p:nvSpPr>
          <p:cNvPr id="39" name="Text 37"/>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40" name="Text 38"/>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2 of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02 / REAL-WORLD MOTIVATION</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Why Single-Slot Resilience Matters in Industry</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From cloud infrastructure to high-precision manufacturing: failure to anticipate slot loss is costly.</a:t>
            </a:r>
            <a:endParaRPr lang="en-US" sz="1200" dirty="0"/>
          </a:p>
        </p:txBody>
      </p:sp>
      <p:sp>
        <p:nvSpPr>
          <p:cNvPr id="5" name="Shape 3"/>
          <p:cNvSpPr/>
          <p:nvPr/>
        </p:nvSpPr>
        <p:spPr>
          <a:xfrm>
            <a:off x="731520" y="1554480"/>
            <a:ext cx="10728655" cy="1261872"/>
          </a:xfrm>
          <a:prstGeom prst="roundRect">
            <a:avLst>
              <a:gd name="adj" fmla="val 8696"/>
            </a:avLst>
          </a:prstGeom>
          <a:solidFill>
            <a:srgbClr val="1E293B"/>
          </a:solidFill>
          <a:ln w="12700">
            <a:solidFill>
              <a:srgbClr val="334155"/>
            </a:solidFill>
            <a:prstDash val="solid"/>
          </a:ln>
        </p:spPr>
      </p:sp>
      <p:sp>
        <p:nvSpPr>
          <p:cNvPr id="6" name="Text 4"/>
          <p:cNvSpPr/>
          <p:nvPr/>
        </p:nvSpPr>
        <p:spPr>
          <a:xfrm>
            <a:off x="1005840" y="1691640"/>
            <a:ext cx="3657600" cy="228600"/>
          </a:xfrm>
          <a:prstGeom prst="rect">
            <a:avLst/>
          </a:prstGeom>
          <a:noFill/>
          <a:ln/>
        </p:spPr>
        <p:txBody>
          <a:bodyPr wrap="square" rtlCol="0" anchor="ctr"/>
          <a:lstStyle/>
          <a:p>
            <a:pPr indent="0" marL="0">
              <a:buNone/>
            </a:pPr>
            <a:r>
              <a:rPr lang="en-US" sz="900" b="1" dirty="0">
                <a:solidFill>
                  <a:srgbClr val="38BDF8"/>
                </a:solidFill>
                <a:latin typeface="Segoe UI" pitchFamily="34" charset="0"/>
                <a:ea typeface="Segoe UI" pitchFamily="34" charset="-122"/>
                <a:cs typeface="Segoe UI" pitchFamily="34" charset="-120"/>
              </a:rPr>
              <a:t>CLOUD ARCHITECTURE</a:t>
            </a:r>
            <a:endParaRPr lang="en-US" sz="900" dirty="0"/>
          </a:p>
        </p:txBody>
      </p:sp>
      <p:sp>
        <p:nvSpPr>
          <p:cNvPr id="7" name="Text 5"/>
          <p:cNvSpPr/>
          <p:nvPr/>
        </p:nvSpPr>
        <p:spPr>
          <a:xfrm>
            <a:off x="1005840" y="1901952"/>
            <a:ext cx="32004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Cloud Computing &amp; Spot Instances</a:t>
            </a:r>
            <a:endParaRPr lang="en-US" sz="1300" dirty="0"/>
          </a:p>
        </p:txBody>
      </p:sp>
      <p:sp>
        <p:nvSpPr>
          <p:cNvPr id="8" name="Text 6"/>
          <p:cNvSpPr/>
          <p:nvPr/>
        </p:nvSpPr>
        <p:spPr>
          <a:xfrm>
            <a:off x="4389120" y="1719072"/>
            <a:ext cx="6766560" cy="9601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Modern cloud providers offer cost-effective Spot VMs and preemptible nodes that can be reclaimed with a 30-second warning. When batch pipelines execute high-priority customer SLAs across discrete processing windows, losing a critical window without precomputed resilience can cause SLA breach penalties exceeding hundreds of thousands of dollars.</a:t>
            </a:r>
            <a:endParaRPr lang="en-US" sz="1050" dirty="0"/>
          </a:p>
        </p:txBody>
      </p:sp>
      <p:sp>
        <p:nvSpPr>
          <p:cNvPr id="9" name="Shape 7"/>
          <p:cNvSpPr/>
          <p:nvPr/>
        </p:nvSpPr>
        <p:spPr>
          <a:xfrm>
            <a:off x="731520" y="2971800"/>
            <a:ext cx="10728655" cy="1261872"/>
          </a:xfrm>
          <a:prstGeom prst="roundRect">
            <a:avLst>
              <a:gd name="adj" fmla="val 8696"/>
            </a:avLst>
          </a:prstGeom>
          <a:solidFill>
            <a:srgbClr val="1E293B"/>
          </a:solidFill>
          <a:ln w="12700">
            <a:solidFill>
              <a:srgbClr val="334155"/>
            </a:solidFill>
            <a:prstDash val="solid"/>
          </a:ln>
        </p:spPr>
      </p:sp>
      <p:sp>
        <p:nvSpPr>
          <p:cNvPr id="10" name="Text 8"/>
          <p:cNvSpPr/>
          <p:nvPr/>
        </p:nvSpPr>
        <p:spPr>
          <a:xfrm>
            <a:off x="1005840" y="3108960"/>
            <a:ext cx="3657600" cy="228600"/>
          </a:xfrm>
          <a:prstGeom prst="rect">
            <a:avLst/>
          </a:prstGeom>
          <a:noFill/>
          <a:ln/>
        </p:spPr>
        <p:txBody>
          <a:bodyPr wrap="square" rtlCol="0" anchor="ctr"/>
          <a:lstStyle/>
          <a:p>
            <a:pPr indent="0" marL="0">
              <a:buNone/>
            </a:pPr>
            <a:r>
              <a:rPr lang="en-US" sz="900" b="1" dirty="0">
                <a:solidFill>
                  <a:srgbClr val="F59E0B"/>
                </a:solidFill>
                <a:latin typeface="Segoe UI" pitchFamily="34" charset="0"/>
                <a:ea typeface="Segoe UI" pitchFamily="34" charset="-122"/>
                <a:cs typeface="Segoe UI" pitchFamily="34" charset="-120"/>
              </a:rPr>
              <a:t>INDUSTRIAL AUTOMATION</a:t>
            </a:r>
            <a:endParaRPr lang="en-US" sz="900" dirty="0"/>
          </a:p>
        </p:txBody>
      </p:sp>
      <p:sp>
        <p:nvSpPr>
          <p:cNvPr id="11" name="Text 9"/>
          <p:cNvSpPr/>
          <p:nvPr/>
        </p:nvSpPr>
        <p:spPr>
          <a:xfrm>
            <a:off x="1005840" y="3319272"/>
            <a:ext cx="32004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Automated Manufacturing &amp; Assembly</a:t>
            </a:r>
            <a:endParaRPr lang="en-US" sz="1300" dirty="0"/>
          </a:p>
        </p:txBody>
      </p:sp>
      <p:sp>
        <p:nvSpPr>
          <p:cNvPr id="12" name="Text 10"/>
          <p:cNvSpPr/>
          <p:nvPr/>
        </p:nvSpPr>
        <p:spPr>
          <a:xfrm>
            <a:off x="4389120" y="3136392"/>
            <a:ext cx="6766560" cy="9601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Precision assembly lines and robotic work-cells operate on rigid discretized time cycles. If an unexpected sensor calibration or thermal safety trip halts station 4 during cycle t, the scheduler must instantly know whether to reroute alternative tasks or halt upstream feeder queues to minimize wasted material and idle machine cycles.</a:t>
            </a:r>
            <a:endParaRPr lang="en-US" sz="1050" dirty="0"/>
          </a:p>
        </p:txBody>
      </p:sp>
      <p:sp>
        <p:nvSpPr>
          <p:cNvPr id="13" name="Shape 11"/>
          <p:cNvSpPr/>
          <p:nvPr/>
        </p:nvSpPr>
        <p:spPr>
          <a:xfrm>
            <a:off x="731520" y="4389120"/>
            <a:ext cx="10728655" cy="1261872"/>
          </a:xfrm>
          <a:prstGeom prst="roundRect">
            <a:avLst>
              <a:gd name="adj" fmla="val 8696"/>
            </a:avLst>
          </a:prstGeom>
          <a:solidFill>
            <a:srgbClr val="1E293B"/>
          </a:solidFill>
          <a:ln w="12700">
            <a:solidFill>
              <a:srgbClr val="334155"/>
            </a:solidFill>
            <a:prstDash val="solid"/>
          </a:ln>
        </p:spPr>
      </p:sp>
      <p:sp>
        <p:nvSpPr>
          <p:cNvPr id="14" name="Text 12"/>
          <p:cNvSpPr/>
          <p:nvPr/>
        </p:nvSpPr>
        <p:spPr>
          <a:xfrm>
            <a:off x="1005840" y="4526280"/>
            <a:ext cx="3657600" cy="228600"/>
          </a:xfrm>
          <a:prstGeom prst="rect">
            <a:avLst/>
          </a:prstGeom>
          <a:noFill/>
          <a:ln/>
        </p:spPr>
        <p:txBody>
          <a:bodyPr wrap="square" rtlCol="0" anchor="ctr"/>
          <a:lstStyle/>
          <a:p>
            <a:pPr indent="0" marL="0">
              <a:buNone/>
            </a:pPr>
            <a:r>
              <a:rPr lang="en-US" sz="900" b="1" dirty="0">
                <a:solidFill>
                  <a:srgbClr val="818CF8"/>
                </a:solidFill>
                <a:latin typeface="Segoe UI" pitchFamily="34" charset="0"/>
                <a:ea typeface="Segoe UI" pitchFamily="34" charset="-122"/>
                <a:cs typeface="Segoe UI" pitchFamily="34" charset="-120"/>
              </a:rPr>
              <a:t>TRANSPORTATION &amp; LOGISTICS</a:t>
            </a:r>
            <a:endParaRPr lang="en-US" sz="900" dirty="0"/>
          </a:p>
        </p:txBody>
      </p:sp>
      <p:sp>
        <p:nvSpPr>
          <p:cNvPr id="15" name="Text 13"/>
          <p:cNvSpPr/>
          <p:nvPr/>
        </p:nvSpPr>
        <p:spPr>
          <a:xfrm>
            <a:off x="1005840" y="4736592"/>
            <a:ext cx="32004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Airport Runway &amp; Logistics Scheduling</a:t>
            </a:r>
            <a:endParaRPr lang="en-US" sz="1300" dirty="0"/>
          </a:p>
        </p:txBody>
      </p:sp>
      <p:sp>
        <p:nvSpPr>
          <p:cNvPr id="16" name="Text 14"/>
          <p:cNvSpPr/>
          <p:nvPr/>
        </p:nvSpPr>
        <p:spPr>
          <a:xfrm>
            <a:off x="4389120" y="4553712"/>
            <a:ext cx="6766560" cy="960120"/>
          </a:xfrm>
          <a:prstGeom prst="rect">
            <a:avLst/>
          </a:prstGeom>
          <a:noFill/>
          <a:ln/>
        </p:spPr>
        <p:txBody>
          <a:bodyPr wrap="square" rtlCol="0" anchor="ctr"/>
          <a:lstStyle/>
          <a:p>
            <a:pPr indent="0" marL="0">
              <a:buNone/>
            </a:pPr>
            <a:r>
              <a:rPr lang="en-US" sz="1050" dirty="0">
                <a:solidFill>
                  <a:srgbClr val="94A3B8"/>
                </a:solidFill>
                <a:latin typeface="Segoe UI" pitchFamily="34" charset="0"/>
                <a:ea typeface="Segoe UI" pitchFamily="34" charset="-122"/>
                <a:cs typeface="Segoe UI" pitchFamily="34" charset="-120"/>
              </a:rPr>
              <a:t>Airport runway take-off slots and port container gantry cranes are heavily constrained finite horizons. Severe weather, surface debris, or emergency maintenance abruptly removes runway slots. Identifying which runway slot removal inflicts the largest passenger ripple disruption enables dispatchers to station emergency ground buffers proactively.</a:t>
            </a:r>
            <a:endParaRPr lang="en-US" sz="1050" dirty="0"/>
          </a:p>
        </p:txBody>
      </p:sp>
      <p:sp>
        <p:nvSpPr>
          <p:cNvPr id="17" name="Shape 15"/>
          <p:cNvSpPr/>
          <p:nvPr/>
        </p:nvSpPr>
        <p:spPr>
          <a:xfrm>
            <a:off x="731520" y="5669280"/>
            <a:ext cx="10728655" cy="502920"/>
          </a:xfrm>
          <a:prstGeom prst="roundRect">
            <a:avLst>
              <a:gd name="adj" fmla="val 21818"/>
            </a:avLst>
          </a:prstGeom>
          <a:solidFill>
            <a:srgbClr val="0F172A"/>
          </a:solidFill>
          <a:ln w="12700">
            <a:solidFill>
              <a:srgbClr val="38BDF8"/>
            </a:solidFill>
            <a:prstDash val="solid"/>
          </a:ln>
        </p:spPr>
      </p:sp>
      <p:sp>
        <p:nvSpPr>
          <p:cNvPr id="18" name="Text 16"/>
          <p:cNvSpPr/>
          <p:nvPr/>
        </p:nvSpPr>
        <p:spPr>
          <a:xfrm>
            <a:off x="822960" y="5669280"/>
            <a:ext cx="10515600" cy="502920"/>
          </a:xfrm>
          <a:prstGeom prst="rect">
            <a:avLst/>
          </a:prstGeom>
          <a:noFill/>
          <a:ln/>
        </p:spPr>
        <p:txBody>
          <a:bodyPr wrap="square" rtlCol="0" anchor="ctr"/>
          <a:lstStyle/>
          <a:p>
            <a:pPr algn="ctr" indent="0" marL="0">
              <a:buNone/>
            </a:pPr>
            <a:r>
              <a:rPr lang="en-US" sz="1050" b="1" dirty="0">
                <a:solidFill>
                  <a:srgbClr val="38BDF8"/>
                </a:solidFill>
                <a:latin typeface="Segoe UI" pitchFamily="34" charset="0"/>
                <a:ea typeface="Segoe UI" pitchFamily="34" charset="-122"/>
                <a:cs typeface="Segoe UI" pitchFamily="34" charset="-120"/>
              </a:rPr>
              <a:t>CORE TAKEAWAY: Optimizing solely for best-case baseline profit creates brittle schedules. Proactive resilience analysis guarantees operational survivability.</a:t>
            </a:r>
            <a:endParaRPr lang="en-US" sz="1050" dirty="0"/>
          </a:p>
        </p:txBody>
      </p:sp>
      <p:sp>
        <p:nvSpPr>
          <p:cNvPr id="19" name="Shape 17"/>
          <p:cNvSpPr/>
          <p:nvPr/>
        </p:nvSpPr>
        <p:spPr>
          <a:xfrm>
            <a:off x="731520" y="6355080"/>
            <a:ext cx="10728655" cy="0"/>
          </a:xfrm>
          <a:prstGeom prst="line">
            <a:avLst/>
          </a:prstGeom>
          <a:noFill/>
          <a:ln w="9525">
            <a:solidFill>
              <a:srgbClr val="334155"/>
            </a:solidFill>
            <a:prstDash val="solid"/>
          </a:ln>
        </p:spPr>
      </p:sp>
      <p:sp>
        <p:nvSpPr>
          <p:cNvPr id="20" name="Text 18"/>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21" name="Text 19"/>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3 of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03 / OUR SOLUTION</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The Dual-Engine Approach: Greedy &amp; Resilience</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A unified mathematical model delivering optimal profit baseline and guaranteed worst-case vulnerability identification.</a:t>
            </a:r>
            <a:endParaRPr lang="en-US" sz="1200" dirty="0"/>
          </a:p>
        </p:txBody>
      </p:sp>
      <p:sp>
        <p:nvSpPr>
          <p:cNvPr id="5" name="Shape 3"/>
          <p:cNvSpPr/>
          <p:nvPr/>
        </p:nvSpPr>
        <p:spPr>
          <a:xfrm>
            <a:off x="731520" y="1554480"/>
            <a:ext cx="5212080" cy="4480560"/>
          </a:xfrm>
          <a:prstGeom prst="roundRect">
            <a:avLst>
              <a:gd name="adj" fmla="val 2449"/>
            </a:avLst>
          </a:prstGeom>
          <a:solidFill>
            <a:srgbClr val="1E293B"/>
          </a:solidFill>
          <a:ln w="12700">
            <a:solidFill>
              <a:srgbClr val="334155"/>
            </a:solidFill>
            <a:prstDash val="solid"/>
          </a:ln>
        </p:spPr>
      </p:sp>
      <p:sp>
        <p:nvSpPr>
          <p:cNvPr id="6" name="Shape 4"/>
          <p:cNvSpPr/>
          <p:nvPr/>
        </p:nvSpPr>
        <p:spPr>
          <a:xfrm>
            <a:off x="1005840" y="1783080"/>
            <a:ext cx="2011680" cy="292608"/>
          </a:xfrm>
          <a:prstGeom prst="roundRect">
            <a:avLst>
              <a:gd name="adj" fmla="val 31250"/>
            </a:avLst>
          </a:prstGeom>
          <a:solidFill>
            <a:srgbClr val="0F172A"/>
          </a:solidFill>
          <a:ln w="12700">
            <a:solidFill>
              <a:srgbClr val="10B981"/>
            </a:solidFill>
            <a:prstDash val="solid"/>
          </a:ln>
        </p:spPr>
      </p:sp>
      <p:sp>
        <p:nvSpPr>
          <p:cNvPr id="7" name="Text 5"/>
          <p:cNvSpPr/>
          <p:nvPr/>
        </p:nvSpPr>
        <p:spPr>
          <a:xfrm>
            <a:off x="1005840" y="1783080"/>
            <a:ext cx="2011680" cy="292608"/>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TIER 1: OPTIMAL BASELINE</a:t>
            </a:r>
            <a:endParaRPr lang="en-US" sz="900" dirty="0"/>
          </a:p>
        </p:txBody>
      </p:sp>
      <p:sp>
        <p:nvSpPr>
          <p:cNvPr id="8" name="Text 6"/>
          <p:cNvSpPr/>
          <p:nvPr/>
        </p:nvSpPr>
        <p:spPr>
          <a:xfrm>
            <a:off x="1005840" y="2148840"/>
            <a:ext cx="4663440" cy="41148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Greedy Profit Maximizer</a:t>
            </a:r>
            <a:endParaRPr lang="en-US" sz="1600" dirty="0"/>
          </a:p>
        </p:txBody>
      </p:sp>
      <p:sp>
        <p:nvSpPr>
          <p:cNvPr id="9" name="Text 7"/>
          <p:cNvSpPr/>
          <p:nvPr/>
        </p:nvSpPr>
        <p:spPr>
          <a:xfrm>
            <a:off x="1005840" y="2697480"/>
            <a:ext cx="4663440" cy="256032"/>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Single Pre-Sort</a:t>
            </a:r>
            <a:endParaRPr lang="en-US" sz="1100" dirty="0"/>
          </a:p>
        </p:txBody>
      </p:sp>
      <p:sp>
        <p:nvSpPr>
          <p:cNvPr id="10" name="Text 8"/>
          <p:cNvSpPr/>
          <p:nvPr/>
        </p:nvSpPr>
        <p:spPr>
          <a:xfrm>
            <a:off x="1005840" y="2935224"/>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Sorts all n jobs once by profit descending, breaking ties by ascending Job ID for complete determinism.</a:t>
            </a:r>
            <a:endParaRPr lang="en-US" sz="1000" dirty="0"/>
          </a:p>
        </p:txBody>
      </p:sp>
      <p:sp>
        <p:nvSpPr>
          <p:cNvPr id="11" name="Text 9"/>
          <p:cNvSpPr/>
          <p:nvPr/>
        </p:nvSpPr>
        <p:spPr>
          <a:xfrm>
            <a:off x="1005840" y="3502152"/>
            <a:ext cx="4663440" cy="256032"/>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Latest Feasible Slot Allocation</a:t>
            </a:r>
            <a:endParaRPr lang="en-US" sz="1100" dirty="0"/>
          </a:p>
        </p:txBody>
      </p:sp>
      <p:sp>
        <p:nvSpPr>
          <p:cNvPr id="12" name="Text 10"/>
          <p:cNvSpPr/>
          <p:nvPr/>
        </p:nvSpPr>
        <p:spPr>
          <a:xfrm>
            <a:off x="1005840" y="3739896"/>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Scans backward from deadline d down to 1, claiming the latest free available slot. Preserves early slots for tighter deadlines.</a:t>
            </a:r>
            <a:endParaRPr lang="en-US" sz="1000" dirty="0"/>
          </a:p>
        </p:txBody>
      </p:sp>
      <p:sp>
        <p:nvSpPr>
          <p:cNvPr id="13" name="Text 11"/>
          <p:cNvSpPr/>
          <p:nvPr/>
        </p:nvSpPr>
        <p:spPr>
          <a:xfrm>
            <a:off x="1005840" y="4306824"/>
            <a:ext cx="4663440" cy="256032"/>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Matroid Optimality</a:t>
            </a:r>
            <a:endParaRPr lang="en-US" sz="1100" dirty="0"/>
          </a:p>
        </p:txBody>
      </p:sp>
      <p:sp>
        <p:nvSpPr>
          <p:cNvPr id="14" name="Text 12"/>
          <p:cNvSpPr/>
          <p:nvPr/>
        </p:nvSpPr>
        <p:spPr>
          <a:xfrm>
            <a:off x="1005840" y="4544568"/>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Provably yields the global maximum profit via the classic Greedy Exchange Argument.</a:t>
            </a:r>
            <a:endParaRPr lang="en-US" sz="1000" dirty="0"/>
          </a:p>
        </p:txBody>
      </p:sp>
      <p:sp>
        <p:nvSpPr>
          <p:cNvPr id="15" name="Text 13"/>
          <p:cNvSpPr/>
          <p:nvPr/>
        </p:nvSpPr>
        <p:spPr>
          <a:xfrm>
            <a:off x="1005840" y="5111496"/>
            <a:ext cx="4663440" cy="256032"/>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Deterministic Rejection</a:t>
            </a:r>
            <a:endParaRPr lang="en-US" sz="1100" dirty="0"/>
          </a:p>
        </p:txBody>
      </p:sp>
      <p:sp>
        <p:nvSpPr>
          <p:cNvPr id="16" name="Text 14"/>
          <p:cNvSpPr/>
          <p:nvPr/>
        </p:nvSpPr>
        <p:spPr>
          <a:xfrm>
            <a:off x="1005840" y="5349240"/>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Tracks unassigned jobs and exports them in their exact original input sequence.</a:t>
            </a:r>
            <a:endParaRPr lang="en-US" sz="1000" dirty="0"/>
          </a:p>
        </p:txBody>
      </p:sp>
      <p:sp>
        <p:nvSpPr>
          <p:cNvPr id="17" name="Shape 15"/>
          <p:cNvSpPr/>
          <p:nvPr/>
        </p:nvSpPr>
        <p:spPr>
          <a:xfrm>
            <a:off x="6248095" y="1554480"/>
            <a:ext cx="5212080" cy="4480560"/>
          </a:xfrm>
          <a:prstGeom prst="roundRect">
            <a:avLst>
              <a:gd name="adj" fmla="val 2449"/>
            </a:avLst>
          </a:prstGeom>
          <a:solidFill>
            <a:srgbClr val="1E293B"/>
          </a:solidFill>
          <a:ln w="12700">
            <a:solidFill>
              <a:srgbClr val="334155"/>
            </a:solidFill>
            <a:prstDash val="solid"/>
          </a:ln>
        </p:spPr>
      </p:sp>
      <p:sp>
        <p:nvSpPr>
          <p:cNvPr id="18" name="Shape 16"/>
          <p:cNvSpPr/>
          <p:nvPr/>
        </p:nvSpPr>
        <p:spPr>
          <a:xfrm>
            <a:off x="6522415" y="1783080"/>
            <a:ext cx="2194560" cy="292608"/>
          </a:xfrm>
          <a:prstGeom prst="roundRect">
            <a:avLst>
              <a:gd name="adj" fmla="val 31250"/>
            </a:avLst>
          </a:prstGeom>
          <a:solidFill>
            <a:srgbClr val="0F172A"/>
          </a:solidFill>
          <a:ln w="12700">
            <a:solidFill>
              <a:srgbClr val="F43F5E"/>
            </a:solidFill>
            <a:prstDash val="solid"/>
          </a:ln>
        </p:spPr>
      </p:sp>
      <p:sp>
        <p:nvSpPr>
          <p:cNvPr id="19" name="Text 17"/>
          <p:cNvSpPr/>
          <p:nvPr/>
        </p:nvSpPr>
        <p:spPr>
          <a:xfrm>
            <a:off x="6522415" y="1783080"/>
            <a:ext cx="2194560" cy="292608"/>
          </a:xfrm>
          <a:prstGeom prst="rect">
            <a:avLst/>
          </a:prstGeom>
          <a:noFill/>
          <a:ln/>
        </p:spPr>
        <p:txBody>
          <a:bodyPr wrap="square" rtlCol="0" anchor="ctr"/>
          <a:lstStyle/>
          <a:p>
            <a:pPr algn="ctr" indent="0" marL="0">
              <a:buNone/>
            </a:pPr>
            <a:r>
              <a:rPr lang="en-US" sz="900" b="1" dirty="0">
                <a:solidFill>
                  <a:srgbClr val="F43F5E"/>
                </a:solidFill>
                <a:latin typeface="Segoe UI" pitchFamily="34" charset="0"/>
                <a:ea typeface="Segoe UI" pitchFamily="34" charset="-122"/>
                <a:cs typeface="Segoe UI" pitchFamily="34" charset="-120"/>
              </a:rPr>
              <a:t>TIER 2: RESILIENCE ENGINE</a:t>
            </a:r>
            <a:endParaRPr lang="en-US" sz="900" dirty="0"/>
          </a:p>
        </p:txBody>
      </p:sp>
      <p:sp>
        <p:nvSpPr>
          <p:cNvPr id="20" name="Text 18"/>
          <p:cNvSpPr/>
          <p:nvPr/>
        </p:nvSpPr>
        <p:spPr>
          <a:xfrm>
            <a:off x="6522415" y="2148840"/>
            <a:ext cx="4663440" cy="41148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Critical-Slot Search Engine</a:t>
            </a:r>
            <a:endParaRPr lang="en-US" sz="1600" dirty="0"/>
          </a:p>
        </p:txBody>
      </p:sp>
      <p:sp>
        <p:nvSpPr>
          <p:cNvPr id="21" name="Text 19"/>
          <p:cNvSpPr/>
          <p:nvPr/>
        </p:nvSpPr>
        <p:spPr>
          <a:xfrm>
            <a:off x="6522415" y="2697480"/>
            <a:ext cx="4663440" cy="256032"/>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Systematic Candidate Testing</a:t>
            </a:r>
            <a:endParaRPr lang="en-US" sz="1100" dirty="0"/>
          </a:p>
        </p:txBody>
      </p:sp>
      <p:sp>
        <p:nvSpPr>
          <p:cNvPr id="22" name="Text 20"/>
          <p:cNvSpPr/>
          <p:nvPr/>
        </p:nvSpPr>
        <p:spPr>
          <a:xfrm>
            <a:off x="6522415" y="2935224"/>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Iterates through every originally available slot s in [1..H], including slots left unoccupied in the baseline schedule.</a:t>
            </a:r>
            <a:endParaRPr lang="en-US" sz="1000" dirty="0"/>
          </a:p>
        </p:txBody>
      </p:sp>
      <p:sp>
        <p:nvSpPr>
          <p:cNvPr id="23" name="Text 21"/>
          <p:cNvSpPr/>
          <p:nvPr/>
        </p:nvSpPr>
        <p:spPr>
          <a:xfrm>
            <a:off x="6522415" y="3502152"/>
            <a:ext cx="4663440" cy="256032"/>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Isolated Schedule Rebuilding</a:t>
            </a:r>
            <a:endParaRPr lang="en-US" sz="1100" dirty="0"/>
          </a:p>
        </p:txBody>
      </p:sp>
      <p:sp>
        <p:nvSpPr>
          <p:cNvPr id="24" name="Text 22"/>
          <p:cNvSpPr/>
          <p:nvPr/>
        </p:nvSpPr>
        <p:spPr>
          <a:xfrm>
            <a:off x="6522415" y="3739896"/>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Marks slot s unavailable and rebuilds an optimal schedule from the pre-sorted job list in O(n * H).</a:t>
            </a:r>
            <a:endParaRPr lang="en-US" sz="1000" dirty="0"/>
          </a:p>
        </p:txBody>
      </p:sp>
      <p:sp>
        <p:nvSpPr>
          <p:cNvPr id="25" name="Text 23"/>
          <p:cNvSpPr/>
          <p:nvPr/>
        </p:nvSpPr>
        <p:spPr>
          <a:xfrm>
            <a:off x="6522415" y="4306824"/>
            <a:ext cx="4663440" cy="256032"/>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Exact Delta Computation</a:t>
            </a:r>
            <a:endParaRPr lang="en-US" sz="1100" dirty="0"/>
          </a:p>
        </p:txBody>
      </p:sp>
      <p:sp>
        <p:nvSpPr>
          <p:cNvPr id="26" name="Text 24"/>
          <p:cNvSpPr/>
          <p:nvPr/>
        </p:nvSpPr>
        <p:spPr>
          <a:xfrm>
            <a:off x="6522415" y="4544568"/>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Evaluates Loss(s) = BaseProfit - CandidateProfit(s) and records the maximum revenue vulnerability.</a:t>
            </a:r>
            <a:endParaRPr lang="en-US" sz="1000" dirty="0"/>
          </a:p>
        </p:txBody>
      </p:sp>
      <p:sp>
        <p:nvSpPr>
          <p:cNvPr id="27" name="Text 25"/>
          <p:cNvSpPr/>
          <p:nvPr/>
        </p:nvSpPr>
        <p:spPr>
          <a:xfrm>
            <a:off x="6522415" y="5111496"/>
            <a:ext cx="4663440" cy="256032"/>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Deterministic Tie Resolution</a:t>
            </a:r>
            <a:endParaRPr lang="en-US" sz="1100" dirty="0"/>
          </a:p>
        </p:txBody>
      </p:sp>
      <p:sp>
        <p:nvSpPr>
          <p:cNvPr id="28" name="Text 26"/>
          <p:cNvSpPr/>
          <p:nvPr/>
        </p:nvSpPr>
        <p:spPr>
          <a:xfrm>
            <a:off x="6522415" y="5349240"/>
            <a:ext cx="4663440" cy="530352"/>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Ascending iteration order with strict comparison ensures that equal maximum losses tie-break to the smallest slot number.</a:t>
            </a:r>
            <a:endParaRPr lang="en-US" sz="1000" dirty="0"/>
          </a:p>
        </p:txBody>
      </p:sp>
      <p:sp>
        <p:nvSpPr>
          <p:cNvPr id="29" name="Shape 27"/>
          <p:cNvSpPr/>
          <p:nvPr/>
        </p:nvSpPr>
        <p:spPr>
          <a:xfrm>
            <a:off x="731520" y="6355080"/>
            <a:ext cx="10728655" cy="0"/>
          </a:xfrm>
          <a:prstGeom prst="line">
            <a:avLst/>
          </a:prstGeom>
          <a:noFill/>
          <a:ln w="9525">
            <a:solidFill>
              <a:srgbClr val="334155"/>
            </a:solidFill>
            <a:prstDash val="solid"/>
          </a:ln>
        </p:spPr>
      </p:sp>
      <p:sp>
        <p:nvSpPr>
          <p:cNvPr id="30" name="Text 28"/>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31" name="Text 29"/>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4 of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04 / WORKFLOW PIPELINE</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Main Workflow: End-to-End Execution Flow</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Step-by-step pipeline from input parsing to failure mitigation output.</a:t>
            </a:r>
            <a:endParaRPr lang="en-US" sz="1200" dirty="0"/>
          </a:p>
        </p:txBody>
      </p:sp>
      <p:sp>
        <p:nvSpPr>
          <p:cNvPr id="5" name="Shape 3"/>
          <p:cNvSpPr/>
          <p:nvPr/>
        </p:nvSpPr>
        <p:spPr>
          <a:xfrm>
            <a:off x="731520" y="1600200"/>
            <a:ext cx="2029968" cy="3108960"/>
          </a:xfrm>
          <a:prstGeom prst="roundRect">
            <a:avLst>
              <a:gd name="adj" fmla="val 5405"/>
            </a:avLst>
          </a:prstGeom>
          <a:solidFill>
            <a:srgbClr val="1E293B"/>
          </a:solidFill>
          <a:ln w="12700">
            <a:solidFill>
              <a:srgbClr val="334155"/>
            </a:solidFill>
            <a:prstDash val="solid"/>
          </a:ln>
        </p:spPr>
      </p:sp>
      <p:sp>
        <p:nvSpPr>
          <p:cNvPr id="6" name="Shape 4"/>
          <p:cNvSpPr/>
          <p:nvPr/>
        </p:nvSpPr>
        <p:spPr>
          <a:xfrm>
            <a:off x="914400" y="1783080"/>
            <a:ext cx="822960" cy="274320"/>
          </a:xfrm>
          <a:prstGeom prst="roundRect">
            <a:avLst>
              <a:gd name="adj" fmla="val 26667"/>
            </a:avLst>
          </a:prstGeom>
          <a:solidFill>
            <a:srgbClr val="0F172A"/>
          </a:solidFill>
          <a:ln w="12700">
            <a:solidFill>
              <a:srgbClr val="38BDF8"/>
            </a:solidFill>
            <a:prstDash val="solid"/>
          </a:ln>
        </p:spPr>
      </p:sp>
      <p:sp>
        <p:nvSpPr>
          <p:cNvPr id="7" name="Text 5"/>
          <p:cNvSpPr/>
          <p:nvPr/>
        </p:nvSpPr>
        <p:spPr>
          <a:xfrm>
            <a:off x="914400" y="1783080"/>
            <a:ext cx="822960" cy="274320"/>
          </a:xfrm>
          <a:prstGeom prst="rect">
            <a:avLst/>
          </a:prstGeom>
          <a:noFill/>
          <a:ln/>
        </p:spPr>
        <p:txBody>
          <a:bodyPr wrap="square" rtlCol="0" anchor="ctr"/>
          <a:lstStyle/>
          <a:p>
            <a:pPr algn="ctr" indent="0" marL="0">
              <a:buNone/>
            </a:pPr>
            <a:r>
              <a:rPr lang="en-US" sz="850" b="1" dirty="0">
                <a:solidFill>
                  <a:srgbClr val="38BDF8"/>
                </a:solidFill>
                <a:latin typeface="Segoe UI" pitchFamily="34" charset="0"/>
                <a:ea typeface="Segoe UI" pitchFamily="34" charset="-122"/>
                <a:cs typeface="Segoe UI" pitchFamily="34" charset="-120"/>
              </a:rPr>
              <a:t>STEP 1</a:t>
            </a:r>
            <a:endParaRPr lang="en-US" sz="850" dirty="0"/>
          </a:p>
        </p:txBody>
      </p:sp>
      <p:sp>
        <p:nvSpPr>
          <p:cNvPr id="8" name="Text 6"/>
          <p:cNvSpPr/>
          <p:nvPr/>
        </p:nvSpPr>
        <p:spPr>
          <a:xfrm>
            <a:off x="914400" y="2167128"/>
            <a:ext cx="1664208" cy="41148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Input Ingestion</a:t>
            </a:r>
            <a:endParaRPr lang="en-US" sz="1300" dirty="0"/>
          </a:p>
        </p:txBody>
      </p:sp>
      <p:sp>
        <p:nvSpPr>
          <p:cNvPr id="9" name="Text 7"/>
          <p:cNvSpPr/>
          <p:nvPr/>
        </p:nvSpPr>
        <p:spPr>
          <a:xfrm>
            <a:off x="914400" y="2651760"/>
            <a:ext cx="1664208" cy="182880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Reads n, H, k, unavailable slots, and job tuples (id, deadline, profit). Validates constraints.</a:t>
            </a:r>
            <a:endParaRPr lang="en-US" sz="1000" dirty="0"/>
          </a:p>
        </p:txBody>
      </p:sp>
      <p:sp>
        <p:nvSpPr>
          <p:cNvPr id="10" name="Text 8"/>
          <p:cNvSpPr/>
          <p:nvPr/>
        </p:nvSpPr>
        <p:spPr>
          <a:xfrm>
            <a:off x="2761488" y="2788920"/>
            <a:ext cx="182880" cy="365760"/>
          </a:xfrm>
          <a:prstGeom prst="rect">
            <a:avLst/>
          </a:prstGeom>
          <a:noFill/>
          <a:ln/>
        </p:spPr>
        <p:txBody>
          <a:bodyPr wrap="square" rtlCol="0" anchor="ctr"/>
          <a:lstStyle/>
          <a:p>
            <a:pPr algn="ctr" indent="0" marL="0">
              <a:buNone/>
            </a:pPr>
            <a:r>
              <a:rPr lang="en-US" sz="1400" b="1" dirty="0">
                <a:solidFill>
                  <a:srgbClr val="64748B"/>
                </a:solidFill>
                <a:latin typeface="Segoe UI" pitchFamily="34" charset="0"/>
                <a:ea typeface="Segoe UI" pitchFamily="34" charset="-122"/>
                <a:cs typeface="Segoe UI" pitchFamily="34" charset="-120"/>
              </a:rPr>
              <a:t>&gt;</a:t>
            </a:r>
            <a:endParaRPr lang="en-US" sz="1400" dirty="0"/>
          </a:p>
        </p:txBody>
      </p:sp>
      <p:sp>
        <p:nvSpPr>
          <p:cNvPr id="11" name="Shape 9"/>
          <p:cNvSpPr/>
          <p:nvPr/>
        </p:nvSpPr>
        <p:spPr>
          <a:xfrm>
            <a:off x="2944368" y="1600200"/>
            <a:ext cx="2029968" cy="3108960"/>
          </a:xfrm>
          <a:prstGeom prst="roundRect">
            <a:avLst>
              <a:gd name="adj" fmla="val 5405"/>
            </a:avLst>
          </a:prstGeom>
          <a:solidFill>
            <a:srgbClr val="1E293B"/>
          </a:solidFill>
          <a:ln w="12700">
            <a:solidFill>
              <a:srgbClr val="334155"/>
            </a:solidFill>
            <a:prstDash val="solid"/>
          </a:ln>
        </p:spPr>
      </p:sp>
      <p:sp>
        <p:nvSpPr>
          <p:cNvPr id="12" name="Shape 10"/>
          <p:cNvSpPr/>
          <p:nvPr/>
        </p:nvSpPr>
        <p:spPr>
          <a:xfrm>
            <a:off x="3127248" y="1783080"/>
            <a:ext cx="822960" cy="274320"/>
          </a:xfrm>
          <a:prstGeom prst="roundRect">
            <a:avLst>
              <a:gd name="adj" fmla="val 26667"/>
            </a:avLst>
          </a:prstGeom>
          <a:solidFill>
            <a:srgbClr val="0F172A"/>
          </a:solidFill>
          <a:ln w="12700">
            <a:solidFill>
              <a:srgbClr val="818CF8"/>
            </a:solidFill>
            <a:prstDash val="solid"/>
          </a:ln>
        </p:spPr>
      </p:sp>
      <p:sp>
        <p:nvSpPr>
          <p:cNvPr id="13" name="Text 11"/>
          <p:cNvSpPr/>
          <p:nvPr/>
        </p:nvSpPr>
        <p:spPr>
          <a:xfrm>
            <a:off x="3127248" y="1783080"/>
            <a:ext cx="822960" cy="274320"/>
          </a:xfrm>
          <a:prstGeom prst="rect">
            <a:avLst/>
          </a:prstGeom>
          <a:noFill/>
          <a:ln/>
        </p:spPr>
        <p:txBody>
          <a:bodyPr wrap="square" rtlCol="0" anchor="ctr"/>
          <a:lstStyle/>
          <a:p>
            <a:pPr algn="ctr" indent="0" marL="0">
              <a:buNone/>
            </a:pPr>
            <a:r>
              <a:rPr lang="en-US" sz="850" b="1" dirty="0">
                <a:solidFill>
                  <a:srgbClr val="818CF8"/>
                </a:solidFill>
                <a:latin typeface="Segoe UI" pitchFamily="34" charset="0"/>
                <a:ea typeface="Segoe UI" pitchFamily="34" charset="-122"/>
                <a:cs typeface="Segoe UI" pitchFamily="34" charset="-120"/>
              </a:rPr>
              <a:t>STEP 2</a:t>
            </a:r>
            <a:endParaRPr lang="en-US" sz="850" dirty="0"/>
          </a:p>
        </p:txBody>
      </p:sp>
      <p:sp>
        <p:nvSpPr>
          <p:cNvPr id="14" name="Text 12"/>
          <p:cNvSpPr/>
          <p:nvPr/>
        </p:nvSpPr>
        <p:spPr>
          <a:xfrm>
            <a:off x="3127248" y="2167128"/>
            <a:ext cx="1664208" cy="41148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Deterministic Sort</a:t>
            </a:r>
            <a:endParaRPr lang="en-US" sz="1300" dirty="0"/>
          </a:p>
        </p:txBody>
      </p:sp>
      <p:sp>
        <p:nvSpPr>
          <p:cNvPr id="15" name="Text 13"/>
          <p:cNvSpPr/>
          <p:nvPr/>
        </p:nvSpPr>
        <p:spPr>
          <a:xfrm>
            <a:off x="3127248" y="2651760"/>
            <a:ext cx="1664208" cy="182880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Sorts jobs once: Profit descending (primary), Job ID ascending (tie-breaker). Precomputes priority queue.</a:t>
            </a:r>
            <a:endParaRPr lang="en-US" sz="1000" dirty="0"/>
          </a:p>
        </p:txBody>
      </p:sp>
      <p:sp>
        <p:nvSpPr>
          <p:cNvPr id="16" name="Text 14"/>
          <p:cNvSpPr/>
          <p:nvPr/>
        </p:nvSpPr>
        <p:spPr>
          <a:xfrm>
            <a:off x="4974336" y="2788920"/>
            <a:ext cx="182880" cy="365760"/>
          </a:xfrm>
          <a:prstGeom prst="rect">
            <a:avLst/>
          </a:prstGeom>
          <a:noFill/>
          <a:ln/>
        </p:spPr>
        <p:txBody>
          <a:bodyPr wrap="square" rtlCol="0" anchor="ctr"/>
          <a:lstStyle/>
          <a:p>
            <a:pPr algn="ctr" indent="0" marL="0">
              <a:buNone/>
            </a:pPr>
            <a:r>
              <a:rPr lang="en-US" sz="1400" b="1" dirty="0">
                <a:solidFill>
                  <a:srgbClr val="64748B"/>
                </a:solidFill>
                <a:latin typeface="Segoe UI" pitchFamily="34" charset="0"/>
                <a:ea typeface="Segoe UI" pitchFamily="34" charset="-122"/>
                <a:cs typeface="Segoe UI" pitchFamily="34" charset="-120"/>
              </a:rPr>
              <a:t>&gt;</a:t>
            </a:r>
            <a:endParaRPr lang="en-US" sz="1400" dirty="0"/>
          </a:p>
        </p:txBody>
      </p:sp>
      <p:sp>
        <p:nvSpPr>
          <p:cNvPr id="17" name="Shape 15"/>
          <p:cNvSpPr/>
          <p:nvPr/>
        </p:nvSpPr>
        <p:spPr>
          <a:xfrm>
            <a:off x="5157216" y="1600200"/>
            <a:ext cx="2029968" cy="3108960"/>
          </a:xfrm>
          <a:prstGeom prst="roundRect">
            <a:avLst>
              <a:gd name="adj" fmla="val 5405"/>
            </a:avLst>
          </a:prstGeom>
          <a:solidFill>
            <a:srgbClr val="1E293B"/>
          </a:solidFill>
          <a:ln w="12700">
            <a:solidFill>
              <a:srgbClr val="334155"/>
            </a:solidFill>
            <a:prstDash val="solid"/>
          </a:ln>
        </p:spPr>
      </p:sp>
      <p:sp>
        <p:nvSpPr>
          <p:cNvPr id="18" name="Shape 16"/>
          <p:cNvSpPr/>
          <p:nvPr/>
        </p:nvSpPr>
        <p:spPr>
          <a:xfrm>
            <a:off x="5340096" y="1783080"/>
            <a:ext cx="822960" cy="274320"/>
          </a:xfrm>
          <a:prstGeom prst="roundRect">
            <a:avLst>
              <a:gd name="adj" fmla="val 26667"/>
            </a:avLst>
          </a:prstGeom>
          <a:solidFill>
            <a:srgbClr val="0F172A"/>
          </a:solidFill>
          <a:ln w="12700">
            <a:solidFill>
              <a:srgbClr val="10B981"/>
            </a:solidFill>
            <a:prstDash val="solid"/>
          </a:ln>
        </p:spPr>
      </p:sp>
      <p:sp>
        <p:nvSpPr>
          <p:cNvPr id="19" name="Text 17"/>
          <p:cNvSpPr/>
          <p:nvPr/>
        </p:nvSpPr>
        <p:spPr>
          <a:xfrm>
            <a:off x="5340096" y="1783080"/>
            <a:ext cx="822960" cy="274320"/>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STEP 3</a:t>
            </a:r>
            <a:endParaRPr lang="en-US" sz="850" dirty="0"/>
          </a:p>
        </p:txBody>
      </p:sp>
      <p:sp>
        <p:nvSpPr>
          <p:cNvPr id="20" name="Text 18"/>
          <p:cNvSpPr/>
          <p:nvPr/>
        </p:nvSpPr>
        <p:spPr>
          <a:xfrm>
            <a:off x="5340096" y="2167128"/>
            <a:ext cx="1664208" cy="41148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Baseline Greedy</a:t>
            </a:r>
            <a:endParaRPr lang="en-US" sz="1300" dirty="0"/>
          </a:p>
        </p:txBody>
      </p:sp>
      <p:sp>
        <p:nvSpPr>
          <p:cNvPr id="21" name="Text 19"/>
          <p:cNvSpPr/>
          <p:nvPr/>
        </p:nvSpPr>
        <p:spPr>
          <a:xfrm>
            <a:off x="5340096" y="2651760"/>
            <a:ext cx="1664208" cy="182880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Iterates through sorted jobs. Scans slots min(d, H) down to 1. Claims latest free slot; collects rejected jobs.</a:t>
            </a:r>
            <a:endParaRPr lang="en-US" sz="1000" dirty="0"/>
          </a:p>
        </p:txBody>
      </p:sp>
      <p:sp>
        <p:nvSpPr>
          <p:cNvPr id="22" name="Text 20"/>
          <p:cNvSpPr/>
          <p:nvPr/>
        </p:nvSpPr>
        <p:spPr>
          <a:xfrm>
            <a:off x="7187184" y="2788920"/>
            <a:ext cx="182880" cy="365760"/>
          </a:xfrm>
          <a:prstGeom prst="rect">
            <a:avLst/>
          </a:prstGeom>
          <a:noFill/>
          <a:ln/>
        </p:spPr>
        <p:txBody>
          <a:bodyPr wrap="square" rtlCol="0" anchor="ctr"/>
          <a:lstStyle/>
          <a:p>
            <a:pPr algn="ctr" indent="0" marL="0">
              <a:buNone/>
            </a:pPr>
            <a:r>
              <a:rPr lang="en-US" sz="1400" b="1" dirty="0">
                <a:solidFill>
                  <a:srgbClr val="64748B"/>
                </a:solidFill>
                <a:latin typeface="Segoe UI" pitchFamily="34" charset="0"/>
                <a:ea typeface="Segoe UI" pitchFamily="34" charset="-122"/>
                <a:cs typeface="Segoe UI" pitchFamily="34" charset="-120"/>
              </a:rPr>
              <a:t>&gt;</a:t>
            </a:r>
            <a:endParaRPr lang="en-US" sz="1400" dirty="0"/>
          </a:p>
        </p:txBody>
      </p:sp>
      <p:sp>
        <p:nvSpPr>
          <p:cNvPr id="23" name="Shape 21"/>
          <p:cNvSpPr/>
          <p:nvPr/>
        </p:nvSpPr>
        <p:spPr>
          <a:xfrm>
            <a:off x="7370064" y="1600200"/>
            <a:ext cx="2029968" cy="3108960"/>
          </a:xfrm>
          <a:prstGeom prst="roundRect">
            <a:avLst>
              <a:gd name="adj" fmla="val 5405"/>
            </a:avLst>
          </a:prstGeom>
          <a:solidFill>
            <a:srgbClr val="1E293B"/>
          </a:solidFill>
          <a:ln w="12700">
            <a:solidFill>
              <a:srgbClr val="334155"/>
            </a:solidFill>
            <a:prstDash val="solid"/>
          </a:ln>
        </p:spPr>
      </p:sp>
      <p:sp>
        <p:nvSpPr>
          <p:cNvPr id="24" name="Shape 22"/>
          <p:cNvSpPr/>
          <p:nvPr/>
        </p:nvSpPr>
        <p:spPr>
          <a:xfrm>
            <a:off x="7552944" y="1783080"/>
            <a:ext cx="822960" cy="274320"/>
          </a:xfrm>
          <a:prstGeom prst="roundRect">
            <a:avLst>
              <a:gd name="adj" fmla="val 26667"/>
            </a:avLst>
          </a:prstGeom>
          <a:solidFill>
            <a:srgbClr val="0F172A"/>
          </a:solidFill>
          <a:ln w="12700">
            <a:solidFill>
              <a:srgbClr val="F59E0B"/>
            </a:solidFill>
            <a:prstDash val="solid"/>
          </a:ln>
        </p:spPr>
      </p:sp>
      <p:sp>
        <p:nvSpPr>
          <p:cNvPr id="25" name="Text 23"/>
          <p:cNvSpPr/>
          <p:nvPr/>
        </p:nvSpPr>
        <p:spPr>
          <a:xfrm>
            <a:off x="7552944" y="1783080"/>
            <a:ext cx="822960" cy="274320"/>
          </a:xfrm>
          <a:prstGeom prst="rect">
            <a:avLst/>
          </a:prstGeom>
          <a:noFill/>
          <a:ln/>
        </p:spPr>
        <p:txBody>
          <a:bodyPr wrap="square" rtlCol="0" anchor="ctr"/>
          <a:lstStyle/>
          <a:p>
            <a:pPr algn="ctr" indent="0" marL="0">
              <a:buNone/>
            </a:pPr>
            <a:r>
              <a:rPr lang="en-US" sz="850" b="1" dirty="0">
                <a:solidFill>
                  <a:srgbClr val="F59E0B"/>
                </a:solidFill>
                <a:latin typeface="Segoe UI" pitchFamily="34" charset="0"/>
                <a:ea typeface="Segoe UI" pitchFamily="34" charset="-122"/>
                <a:cs typeface="Segoe UI" pitchFamily="34" charset="-120"/>
              </a:rPr>
              <a:t>STEP 4</a:t>
            </a:r>
            <a:endParaRPr lang="en-US" sz="850" dirty="0"/>
          </a:p>
        </p:txBody>
      </p:sp>
      <p:sp>
        <p:nvSpPr>
          <p:cNvPr id="26" name="Text 24"/>
          <p:cNvSpPr/>
          <p:nvPr/>
        </p:nvSpPr>
        <p:spPr>
          <a:xfrm>
            <a:off x="7552944" y="2167128"/>
            <a:ext cx="1664208" cy="41148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Slot Perturbation</a:t>
            </a:r>
            <a:endParaRPr lang="en-US" sz="1300" dirty="0"/>
          </a:p>
        </p:txBody>
      </p:sp>
      <p:sp>
        <p:nvSpPr>
          <p:cNvPr id="27" name="Text 25"/>
          <p:cNvSpPr/>
          <p:nvPr/>
        </p:nvSpPr>
        <p:spPr>
          <a:xfrm>
            <a:off x="7552944" y="2651760"/>
            <a:ext cx="1664208" cy="182880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For each candidate slot s, clones availability with s disabled. Re-runs greedy solver without re-sorting.</a:t>
            </a:r>
            <a:endParaRPr lang="en-US" sz="1000" dirty="0"/>
          </a:p>
        </p:txBody>
      </p:sp>
      <p:sp>
        <p:nvSpPr>
          <p:cNvPr id="28" name="Text 26"/>
          <p:cNvSpPr/>
          <p:nvPr/>
        </p:nvSpPr>
        <p:spPr>
          <a:xfrm>
            <a:off x="9400032" y="2788920"/>
            <a:ext cx="182880" cy="365760"/>
          </a:xfrm>
          <a:prstGeom prst="rect">
            <a:avLst/>
          </a:prstGeom>
          <a:noFill/>
          <a:ln/>
        </p:spPr>
        <p:txBody>
          <a:bodyPr wrap="square" rtlCol="0" anchor="ctr"/>
          <a:lstStyle/>
          <a:p>
            <a:pPr algn="ctr" indent="0" marL="0">
              <a:buNone/>
            </a:pPr>
            <a:r>
              <a:rPr lang="en-US" sz="1400" b="1" dirty="0">
                <a:solidFill>
                  <a:srgbClr val="64748B"/>
                </a:solidFill>
                <a:latin typeface="Segoe UI" pitchFamily="34" charset="0"/>
                <a:ea typeface="Segoe UI" pitchFamily="34" charset="-122"/>
                <a:cs typeface="Segoe UI" pitchFamily="34" charset="-120"/>
              </a:rPr>
              <a:t>&gt;</a:t>
            </a:r>
            <a:endParaRPr lang="en-US" sz="1400" dirty="0"/>
          </a:p>
        </p:txBody>
      </p:sp>
      <p:sp>
        <p:nvSpPr>
          <p:cNvPr id="29" name="Shape 27"/>
          <p:cNvSpPr/>
          <p:nvPr/>
        </p:nvSpPr>
        <p:spPr>
          <a:xfrm>
            <a:off x="9582912" y="1600200"/>
            <a:ext cx="2029968" cy="3108960"/>
          </a:xfrm>
          <a:prstGeom prst="roundRect">
            <a:avLst>
              <a:gd name="adj" fmla="val 5405"/>
            </a:avLst>
          </a:prstGeom>
          <a:solidFill>
            <a:srgbClr val="1E293B"/>
          </a:solidFill>
          <a:ln w="12700">
            <a:solidFill>
              <a:srgbClr val="334155"/>
            </a:solidFill>
            <a:prstDash val="solid"/>
          </a:ln>
        </p:spPr>
      </p:sp>
      <p:sp>
        <p:nvSpPr>
          <p:cNvPr id="30" name="Shape 28"/>
          <p:cNvSpPr/>
          <p:nvPr/>
        </p:nvSpPr>
        <p:spPr>
          <a:xfrm>
            <a:off x="9765792" y="1783080"/>
            <a:ext cx="822960" cy="274320"/>
          </a:xfrm>
          <a:prstGeom prst="roundRect">
            <a:avLst>
              <a:gd name="adj" fmla="val 26667"/>
            </a:avLst>
          </a:prstGeom>
          <a:solidFill>
            <a:srgbClr val="0F172A"/>
          </a:solidFill>
          <a:ln w="12700">
            <a:solidFill>
              <a:srgbClr val="F43F5E"/>
            </a:solidFill>
            <a:prstDash val="solid"/>
          </a:ln>
        </p:spPr>
      </p:sp>
      <p:sp>
        <p:nvSpPr>
          <p:cNvPr id="31" name="Text 29"/>
          <p:cNvSpPr/>
          <p:nvPr/>
        </p:nvSpPr>
        <p:spPr>
          <a:xfrm>
            <a:off x="9765792" y="1783080"/>
            <a:ext cx="822960" cy="274320"/>
          </a:xfrm>
          <a:prstGeom prst="rect">
            <a:avLst/>
          </a:prstGeom>
          <a:noFill/>
          <a:ln/>
        </p:spPr>
        <p:txBody>
          <a:bodyPr wrap="square" rtlCol="0" anchor="ctr"/>
          <a:lstStyle/>
          <a:p>
            <a:pPr algn="ctr" indent="0" marL="0">
              <a:buNone/>
            </a:pPr>
            <a:r>
              <a:rPr lang="en-US" sz="850" b="1" dirty="0">
                <a:solidFill>
                  <a:srgbClr val="F43F5E"/>
                </a:solidFill>
                <a:latin typeface="Segoe UI" pitchFamily="34" charset="0"/>
                <a:ea typeface="Segoe UI" pitchFamily="34" charset="-122"/>
                <a:cs typeface="Segoe UI" pitchFamily="34" charset="-120"/>
              </a:rPr>
              <a:t>STEP 5</a:t>
            </a:r>
            <a:endParaRPr lang="en-US" sz="850" dirty="0"/>
          </a:p>
        </p:txBody>
      </p:sp>
      <p:sp>
        <p:nvSpPr>
          <p:cNvPr id="32" name="Text 30"/>
          <p:cNvSpPr/>
          <p:nvPr/>
        </p:nvSpPr>
        <p:spPr>
          <a:xfrm>
            <a:off x="9765792" y="2167128"/>
            <a:ext cx="1664208" cy="41148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Critical Report</a:t>
            </a:r>
            <a:endParaRPr lang="en-US" sz="1300" dirty="0"/>
          </a:p>
        </p:txBody>
      </p:sp>
      <p:sp>
        <p:nvSpPr>
          <p:cNvPr id="33" name="Text 31"/>
          <p:cNvSpPr/>
          <p:nvPr/>
        </p:nvSpPr>
        <p:spPr>
          <a:xfrm>
            <a:off x="9765792" y="2651760"/>
            <a:ext cx="1664208" cy="182880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Selects slot with max loss (ties resolved by min index). Emits 7 standardized output records.</a:t>
            </a:r>
            <a:endParaRPr lang="en-US" sz="1000" dirty="0"/>
          </a:p>
        </p:txBody>
      </p:sp>
      <p:sp>
        <p:nvSpPr>
          <p:cNvPr id="34" name="Shape 32"/>
          <p:cNvSpPr/>
          <p:nvPr/>
        </p:nvSpPr>
        <p:spPr>
          <a:xfrm>
            <a:off x="731520" y="4892040"/>
            <a:ext cx="10728655" cy="1280160"/>
          </a:xfrm>
          <a:prstGeom prst="roundRect">
            <a:avLst>
              <a:gd name="adj" fmla="val 8571"/>
            </a:avLst>
          </a:prstGeom>
          <a:solidFill>
            <a:srgbClr val="0F172A"/>
          </a:solidFill>
          <a:ln w="12700">
            <a:solidFill>
              <a:srgbClr val="334155"/>
            </a:solidFill>
            <a:prstDash val="solid"/>
          </a:ln>
        </p:spPr>
      </p:sp>
      <p:sp>
        <p:nvSpPr>
          <p:cNvPr id="35" name="Text 33"/>
          <p:cNvSpPr/>
          <p:nvPr/>
        </p:nvSpPr>
        <p:spPr>
          <a:xfrm>
            <a:off x="1005840" y="4983480"/>
            <a:ext cx="4114800" cy="274320"/>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Standardized 7-Line Output Schema</a:t>
            </a:r>
            <a:endParaRPr lang="en-US" sz="1100" dirty="0"/>
          </a:p>
        </p:txBody>
      </p:sp>
      <p:sp>
        <p:nvSpPr>
          <p:cNvPr id="36" name="Text 34"/>
          <p:cNvSpPr/>
          <p:nvPr/>
        </p:nvSpPr>
        <p:spPr>
          <a:xfrm>
            <a:off x="1005840" y="5257800"/>
            <a:ext cx="4572000" cy="822960"/>
          </a:xfrm>
          <a:prstGeom prst="rect">
            <a:avLst/>
          </a:prstGeom>
          <a:noFill/>
          <a:ln/>
        </p:spPr>
        <p:txBody>
          <a:bodyPr wrap="square" rtlCol="0" anchor="ctr"/>
          <a:lstStyle/>
          <a:p>
            <a:pPr indent="0" marL="0">
              <a:buNone/>
            </a:pPr>
            <a:r>
              <a:rPr lang="en-US" sz="1000" dirty="0">
                <a:solidFill>
                  <a:srgbClr val="10B981"/>
                </a:solidFill>
                <a:latin typeface="JetBrains Mono, Consolas, Courier New" pitchFamily="34" charset="0"/>
                <a:ea typeface="JetBrains Mono, Consolas, Courier New" pitchFamily="34" charset="-122"/>
                <a:cs typeface="JetBrains Mono, Consolas, Courier New" pitchFamily="34" charset="-120"/>
              </a:rPr>
              <a:t>BASE_PROFIT 142</a:t>
            </a:r>
            <a:endParaRPr lang="en-US" sz="1000" dirty="0"/>
          </a:p>
          <a:p>
            <a:pPr indent="0" marL="0">
              <a:buNone/>
            </a:pPr>
            <a:r>
              <a:rPr lang="en-US" sz="1000" dirty="0">
                <a:solidFill>
                  <a:srgbClr val="10B981"/>
                </a:solidFill>
                <a:latin typeface="JetBrains Mono, Consolas, Courier New" pitchFamily="34" charset="0"/>
                <a:ea typeface="JetBrains Mono, Consolas, Courier New" pitchFamily="34" charset="-122"/>
                <a:cs typeface="JetBrains Mono, Consolas, Courier New" pitchFamily="34" charset="-120"/>
              </a:rPr>
              <a:t>BASE_SLOTS 3 1 5</a:t>
            </a:r>
            <a:endParaRPr lang="en-US" sz="1000" dirty="0"/>
          </a:p>
          <a:p>
            <a:pPr indent="0" marL="0">
              <a:buNone/>
            </a:pPr>
            <a:r>
              <a:rPr lang="en-US" sz="1000" dirty="0">
                <a:solidFill>
                  <a:srgbClr val="10B981"/>
                </a:solidFill>
                <a:latin typeface="JetBrains Mono, Consolas, Courier New" pitchFamily="34" charset="0"/>
                <a:ea typeface="JetBrains Mono, Consolas, Courier New" pitchFamily="34" charset="-122"/>
                <a:cs typeface="JetBrains Mono, Consolas, Courier New" pitchFamily="34" charset="-120"/>
              </a:rPr>
              <a:t>REJECTED 2 2 4</a:t>
            </a:r>
            <a:endParaRPr lang="en-US" sz="1000" dirty="0"/>
          </a:p>
        </p:txBody>
      </p:sp>
      <p:sp>
        <p:nvSpPr>
          <p:cNvPr id="37" name="Text 35"/>
          <p:cNvSpPr/>
          <p:nvPr/>
        </p:nvSpPr>
        <p:spPr>
          <a:xfrm>
            <a:off x="5669280" y="5257800"/>
            <a:ext cx="5486400" cy="822960"/>
          </a:xfrm>
          <a:prstGeom prst="rect">
            <a:avLst/>
          </a:prstGeom>
          <a:noFill/>
          <a:ln/>
        </p:spPr>
        <p:txBody>
          <a:bodyPr wrap="square" rtlCol="0" anchor="ctr"/>
          <a:lstStyle/>
          <a:p>
            <a:pPr indent="0" marL="0">
              <a:buNone/>
            </a:pPr>
            <a:r>
              <a:rPr lang="en-US" sz="1000" dirty="0">
                <a:solidFill>
                  <a:srgbClr val="F59E0B"/>
                </a:solidFill>
                <a:latin typeface="JetBrains Mono, Consolas, Courier New" pitchFamily="34" charset="0"/>
                <a:ea typeface="JetBrains Mono, Consolas, Courier New" pitchFamily="34" charset="-122"/>
                <a:cs typeface="JetBrains Mono, Consolas, Courier New" pitchFamily="34" charset="-120"/>
              </a:rPr>
              <a:t>CRITICAL_SLOT 1</a:t>
            </a:r>
            <a:endParaRPr lang="en-US" sz="1000" dirty="0"/>
          </a:p>
          <a:p>
            <a:pPr indent="0" marL="0">
              <a:buNone/>
            </a:pPr>
            <a:r>
              <a:rPr lang="en-US" sz="1000" dirty="0">
                <a:solidFill>
                  <a:srgbClr val="F59E0B"/>
                </a:solidFill>
                <a:latin typeface="JetBrains Mono, Consolas, Courier New" pitchFamily="34" charset="0"/>
                <a:ea typeface="JetBrains Mono, Consolas, Courier New" pitchFamily="34" charset="-122"/>
                <a:cs typeface="JetBrains Mono, Consolas, Courier New" pitchFamily="34" charset="-120"/>
              </a:rPr>
              <a:t>LOSS 27</a:t>
            </a:r>
            <a:endParaRPr lang="en-US" sz="1000" dirty="0"/>
          </a:p>
          <a:p>
            <a:pPr indent="0" marL="0">
              <a:buNone/>
            </a:pPr>
            <a:r>
              <a:rPr lang="en-US" sz="1000" dirty="0">
                <a:solidFill>
                  <a:srgbClr val="F59E0B"/>
                </a:solidFill>
                <a:latin typeface="JetBrains Mono, Consolas, Courier New" pitchFamily="34" charset="0"/>
                <a:ea typeface="JetBrains Mono, Consolas, Courier New" pitchFamily="34" charset="-122"/>
                <a:cs typeface="JetBrains Mono, Consolas, Courier New" pitchFamily="34" charset="-120"/>
              </a:rPr>
              <a:t>AFTER_PROFIT 115</a:t>
            </a:r>
            <a:endParaRPr lang="en-US" sz="1000" dirty="0"/>
          </a:p>
          <a:p>
            <a:pPr indent="0" marL="0">
              <a:buNone/>
            </a:pPr>
            <a:r>
              <a:rPr lang="en-US" sz="1000" dirty="0">
                <a:solidFill>
                  <a:srgbClr val="F59E0B"/>
                </a:solidFill>
                <a:latin typeface="JetBrains Mono, Consolas, Courier New" pitchFamily="34" charset="0"/>
                <a:ea typeface="JetBrains Mono, Consolas, Courier New" pitchFamily="34" charset="-122"/>
                <a:cs typeface="JetBrains Mono, Consolas, Courier New" pitchFamily="34" charset="-120"/>
              </a:rPr>
              <a:t>AFTER_SLOTS 0 1 5</a:t>
            </a:r>
            <a:endParaRPr lang="en-US" sz="1000" dirty="0"/>
          </a:p>
        </p:txBody>
      </p:sp>
      <p:sp>
        <p:nvSpPr>
          <p:cNvPr id="38" name="Shape 36"/>
          <p:cNvSpPr/>
          <p:nvPr/>
        </p:nvSpPr>
        <p:spPr>
          <a:xfrm>
            <a:off x="731520" y="6355080"/>
            <a:ext cx="10728655" cy="0"/>
          </a:xfrm>
          <a:prstGeom prst="line">
            <a:avLst/>
          </a:prstGeom>
          <a:noFill/>
          <a:ln w="9525">
            <a:solidFill>
              <a:srgbClr val="334155"/>
            </a:solidFill>
            <a:prstDash val="solid"/>
          </a:ln>
        </p:spPr>
      </p:sp>
      <p:sp>
        <p:nvSpPr>
          <p:cNvPr id="39" name="Text 37"/>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40" name="Text 38"/>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5 of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05 / COMPLEXITY &amp; PROOFS</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Theoretical Guarantees &amp; Runtime Bounds</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Mathematical proof of optimality combined with tight asymptotic complexity bounds.</a:t>
            </a:r>
            <a:endParaRPr lang="en-US" sz="1200" dirty="0"/>
          </a:p>
        </p:txBody>
      </p:sp>
      <p:sp>
        <p:nvSpPr>
          <p:cNvPr id="5" name="Shape 3"/>
          <p:cNvSpPr/>
          <p:nvPr/>
        </p:nvSpPr>
        <p:spPr>
          <a:xfrm>
            <a:off x="731520" y="1554480"/>
            <a:ext cx="5669280" cy="4480560"/>
          </a:xfrm>
          <a:prstGeom prst="roundRect">
            <a:avLst>
              <a:gd name="adj" fmla="val 2449"/>
            </a:avLst>
          </a:prstGeom>
          <a:solidFill>
            <a:srgbClr val="1E293B"/>
          </a:solidFill>
          <a:ln w="12700">
            <a:solidFill>
              <a:srgbClr val="334155"/>
            </a:solidFill>
            <a:prstDash val="solid"/>
          </a:ln>
        </p:spPr>
      </p:sp>
      <p:sp>
        <p:nvSpPr>
          <p:cNvPr id="6" name="Text 4"/>
          <p:cNvSpPr/>
          <p:nvPr/>
        </p:nvSpPr>
        <p:spPr>
          <a:xfrm>
            <a:off x="1005840" y="1783080"/>
            <a:ext cx="5120640" cy="32004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Asymptotic Complexity Breakdown</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60120" y="2240280"/>
          <a:ext cx="5212080" cy="914400"/>
        </p:xfrm>
        <a:graphic>
          <a:graphicData uri="http://schemas.openxmlformats.org/drawingml/2006/table">
            <a:tbl>
              <a:tblPr/>
              <a:tblGrid>
                <a:gridCol w="1188720"/>
                <a:gridCol w="1280160"/>
                <a:gridCol w="822960"/>
                <a:gridCol w="1920240"/>
              </a:tblGrid>
              <a:tr h="34747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Execution Phase</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50" b="1" dirty="0">
                          <a:solidFill>
                            <a:srgbClr val="38BDF8"/>
                          </a:solidFill>
                          <a:latin typeface="Segoe UI" pitchFamily="34" charset="0"/>
                          <a:ea typeface="Segoe UI" pitchFamily="34" charset="-122"/>
                          <a:cs typeface="Segoe UI" pitchFamily="34" charset="-120"/>
                        </a:rPr>
                        <a:t>Time Bound</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50" b="1" dirty="0">
                          <a:solidFill>
                            <a:srgbClr val="818CF8"/>
                          </a:solidFill>
                          <a:latin typeface="Segoe UI" pitchFamily="34" charset="0"/>
                          <a:ea typeface="Segoe UI" pitchFamily="34" charset="-122"/>
                          <a:cs typeface="Segoe UI" pitchFamily="34" charset="-120"/>
                        </a:rPr>
                        <a:t>Space Bound</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50" b="1" dirty="0">
                          <a:solidFill>
                            <a:srgbClr val="94A3B8"/>
                          </a:solidFill>
                          <a:latin typeface="Segoe UI" pitchFamily="34" charset="0"/>
                          <a:ea typeface="Segoe UI" pitchFamily="34" charset="-122"/>
                          <a:cs typeface="Segoe UI" pitchFamily="34" charset="-120"/>
                        </a:rPr>
                        <a:t>Operational Detail</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384048">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1. Sort Jobs</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b="1" dirty="0">
                          <a:solidFill>
                            <a:srgbClr val="38BDF8"/>
                          </a:solidFill>
                          <a:latin typeface="Segoe UI" pitchFamily="34" charset="0"/>
                          <a:ea typeface="Segoe UI" pitchFamily="34" charset="-122"/>
                          <a:cs typeface="Segoe UI" pitchFamily="34" charset="-120"/>
                        </a:rPr>
                        <a:t>O(n log n)</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818CF8"/>
                          </a:solidFill>
                          <a:latin typeface="Segoe UI" pitchFamily="34" charset="0"/>
                          <a:ea typeface="Segoe UI" pitchFamily="34" charset="-122"/>
                          <a:cs typeface="Segoe UI" pitchFamily="34" charset="-120"/>
                        </a:rPr>
                        <a:t>O(n)</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Sort by profit desc, ID asc once</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384048">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2. Baseline Greedy</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b="1" dirty="0">
                          <a:solidFill>
                            <a:srgbClr val="38BDF8"/>
                          </a:solidFill>
                          <a:latin typeface="Segoe UI" pitchFamily="34" charset="0"/>
                          <a:ea typeface="Segoe UI" pitchFamily="34" charset="-122"/>
                          <a:cs typeface="Segoe UI" pitchFamily="34" charset="-120"/>
                        </a:rPr>
                        <a:t>O(n * 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818CF8"/>
                          </a:solidFill>
                          <a:latin typeface="Segoe UI" pitchFamily="34" charset="0"/>
                          <a:ea typeface="Segoe UI" pitchFamily="34" charset="-122"/>
                          <a:cs typeface="Segoe UI" pitchFamily="34" charset="-120"/>
                        </a:rPr>
                        <a:t>O(H)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Linear scan of slots per job</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384048">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3. Critical Search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b="1" dirty="0">
                          <a:solidFill>
                            <a:srgbClr val="F43F5E"/>
                          </a:solidFill>
                          <a:latin typeface="Segoe UI" pitchFamily="34" charset="0"/>
                          <a:ea typeface="Segoe UI" pitchFamily="34" charset="-122"/>
                          <a:cs typeface="Segoe UI" pitchFamily="34" charset="-120"/>
                        </a:rPr>
                        <a:t>O(n * H^2)</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818CF8"/>
                          </a:solidFill>
                          <a:latin typeface="Segoe UI" pitchFamily="34" charset="0"/>
                          <a:ea typeface="Segoe UI" pitchFamily="34" charset="-122"/>
                          <a:cs typeface="Segoe UI" pitchFamily="34" charset="-120"/>
                        </a:rPr>
                        <a:t>O(H)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At most H rebuilds * O(n * 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438912">
                <a:tc>
                  <a:txBody>
                    <a:bodyPr/>
                    <a:lstStyle/>
                    <a:p>
                      <a:pPr indent="0" marL="0">
                        <a:buNone/>
                      </a:pPr>
                      <a:r>
                        <a:rPr lang="en-US" sz="950" b="1" dirty="0">
                          <a:solidFill>
                            <a:srgbClr val="F8FAFC"/>
                          </a:solidFill>
                          <a:latin typeface="Segoe UI" pitchFamily="34" charset="0"/>
                          <a:ea typeface="Segoe UI" pitchFamily="34" charset="-122"/>
                          <a:cs typeface="Segoe UI" pitchFamily="34" charset="-120"/>
                        </a:rPr>
                        <a:t>Total Overall</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b="1" dirty="0">
                          <a:solidFill>
                            <a:srgbClr val="10B981"/>
                          </a:solidFill>
                          <a:latin typeface="Segoe UI" pitchFamily="34" charset="0"/>
                          <a:ea typeface="Segoe UI" pitchFamily="34" charset="-122"/>
                          <a:cs typeface="Segoe UI" pitchFamily="34" charset="-120"/>
                        </a:rPr>
                        <a:t>O(n log n + n*H^2)</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b="1" dirty="0">
                          <a:solidFill>
                            <a:srgbClr val="818CF8"/>
                          </a:solidFill>
                          <a:latin typeface="Segoe UI" pitchFamily="34" charset="0"/>
                          <a:ea typeface="Segoe UI" pitchFamily="34" charset="-122"/>
                          <a:cs typeface="Segoe UI" pitchFamily="34" charset="-120"/>
                        </a:rPr>
                        <a:t>O(n + H)</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50" dirty="0">
                          <a:solidFill>
                            <a:srgbClr val="94A3B8"/>
                          </a:solidFill>
                          <a:latin typeface="Segoe UI" pitchFamily="34" charset="0"/>
                          <a:ea typeface="Segoe UI" pitchFamily="34" charset="-122"/>
                          <a:cs typeface="Segoe UI" pitchFamily="34" charset="-120"/>
                        </a:rPr>
                        <a:t>Sub-millisecond on target sizes</a:t>
                      </a:r>
                      <a:endParaRPr lang="en-US" sz="95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bl>
          </a:graphicData>
        </a:graphic>
      </p:graphicFrame>
      <p:sp>
        <p:nvSpPr>
          <p:cNvPr id="8" name="Text 5"/>
          <p:cNvSpPr/>
          <p:nvPr/>
        </p:nvSpPr>
        <p:spPr>
          <a:xfrm>
            <a:off x="1005840" y="4389120"/>
            <a:ext cx="5120640" cy="256032"/>
          </a:xfrm>
          <a:prstGeom prst="rect">
            <a:avLst/>
          </a:prstGeom>
          <a:noFill/>
          <a:ln/>
        </p:spPr>
        <p:txBody>
          <a:bodyPr wrap="square" rtlCol="0" anchor="ctr"/>
          <a:lstStyle/>
          <a:p>
            <a:pPr indent="0" marL="0">
              <a:buNone/>
            </a:pPr>
            <a:r>
              <a:rPr lang="en-US" sz="1050" b="1" dirty="0">
                <a:solidFill>
                  <a:srgbClr val="F59E0B"/>
                </a:solidFill>
                <a:latin typeface="Segoe UI" pitchFamily="34" charset="0"/>
                <a:ea typeface="Segoe UI" pitchFamily="34" charset="-122"/>
                <a:cs typeface="Segoe UI" pitchFamily="34" charset="-120"/>
              </a:rPr>
              <a:t>Practical Constraints &amp; Benchmark Execution:</a:t>
            </a:r>
            <a:endParaRPr lang="en-US" sz="1050" dirty="0"/>
          </a:p>
        </p:txBody>
      </p:sp>
      <p:sp>
        <p:nvSpPr>
          <p:cNvPr id="9" name="Text 6"/>
          <p:cNvSpPr/>
          <p:nvPr/>
        </p:nvSpPr>
        <p:spPr>
          <a:xfrm>
            <a:off x="1005840" y="4681728"/>
            <a:ext cx="5120640" cy="118872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Maximum Problem Specs: n &lt;= 200 jobs, H &lt;= 60 time slots.</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Maximum Operations: ~200 * 3,600 = 720,000 elementary operations.</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Real-World Latency: Under 2 milliseconds in Node.js and Python.</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Correctness over naive: Avoids re-sorting jobs per candidate (O(H * n log n)).</a:t>
            </a:r>
            <a:endParaRPr lang="en-US" sz="950" dirty="0"/>
          </a:p>
        </p:txBody>
      </p:sp>
      <p:sp>
        <p:nvSpPr>
          <p:cNvPr id="10" name="Shape 7"/>
          <p:cNvSpPr/>
          <p:nvPr/>
        </p:nvSpPr>
        <p:spPr>
          <a:xfrm>
            <a:off x="6629400" y="1554480"/>
            <a:ext cx="4830775" cy="4480560"/>
          </a:xfrm>
          <a:prstGeom prst="roundRect">
            <a:avLst>
              <a:gd name="adj" fmla="val 2449"/>
            </a:avLst>
          </a:prstGeom>
          <a:solidFill>
            <a:srgbClr val="1E293B"/>
          </a:solidFill>
          <a:ln w="12700">
            <a:solidFill>
              <a:srgbClr val="334155"/>
            </a:solidFill>
            <a:prstDash val="solid"/>
          </a:ln>
        </p:spPr>
      </p:sp>
      <p:sp>
        <p:nvSpPr>
          <p:cNvPr id="11" name="Text 8"/>
          <p:cNvSpPr/>
          <p:nvPr/>
        </p:nvSpPr>
        <p:spPr>
          <a:xfrm>
            <a:off x="6903720" y="1783080"/>
            <a:ext cx="4206240" cy="320040"/>
          </a:xfrm>
          <a:prstGeom prst="rect">
            <a:avLst/>
          </a:prstGeom>
          <a:noFill/>
          <a:ln/>
        </p:spPr>
        <p:txBody>
          <a:bodyPr wrap="square" rtlCol="0" anchor="ctr"/>
          <a:lstStyle/>
          <a:p>
            <a:pPr indent="0" marL="0">
              <a:buNone/>
            </a:pPr>
            <a:r>
              <a:rPr lang="en-US" sz="1400" b="1" dirty="0">
                <a:solidFill>
                  <a:srgbClr val="818CF8"/>
                </a:solidFill>
                <a:latin typeface="Segoe UI" pitchFamily="34" charset="0"/>
                <a:ea typeface="Segoe UI" pitchFamily="34" charset="-122"/>
                <a:cs typeface="Segoe UI" pitchFamily="34" charset="-120"/>
              </a:rPr>
              <a:t>Formal Correctness Arguments</a:t>
            </a:r>
            <a:endParaRPr lang="en-US" sz="1400" dirty="0"/>
          </a:p>
        </p:txBody>
      </p:sp>
      <p:sp>
        <p:nvSpPr>
          <p:cNvPr id="12" name="Text 9"/>
          <p:cNvSpPr/>
          <p:nvPr/>
        </p:nvSpPr>
        <p:spPr>
          <a:xfrm>
            <a:off x="6903720" y="2240280"/>
            <a:ext cx="4206240" cy="237744"/>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Lemma 1: Exchange Optimality</a:t>
            </a:r>
            <a:endParaRPr lang="en-US" sz="1100" dirty="0"/>
          </a:p>
        </p:txBody>
      </p:sp>
      <p:sp>
        <p:nvSpPr>
          <p:cNvPr id="13" name="Text 10"/>
          <p:cNvSpPr/>
          <p:nvPr/>
        </p:nvSpPr>
        <p:spPr>
          <a:xfrm>
            <a:off x="6903720" y="2478024"/>
            <a:ext cx="4206240" cy="8686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Processing jobs by descending profit and allocating the latest free feasible slot preserves the maximum feasible capacity for earlier deadlines. By standard matroid exchange, no alternate assignment yields higher total profit.</a:t>
            </a:r>
            <a:endParaRPr lang="en-US" sz="950" dirty="0"/>
          </a:p>
        </p:txBody>
      </p:sp>
      <p:sp>
        <p:nvSpPr>
          <p:cNvPr id="14" name="Text 11"/>
          <p:cNvSpPr/>
          <p:nvPr/>
        </p:nvSpPr>
        <p:spPr>
          <a:xfrm>
            <a:off x="6903720" y="3447288"/>
            <a:ext cx="4206240" cy="237744"/>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Lemma 2: Exhaustive Candidate Coverage</a:t>
            </a:r>
            <a:endParaRPr lang="en-US" sz="1100" dirty="0"/>
          </a:p>
        </p:txBody>
      </p:sp>
      <p:sp>
        <p:nvSpPr>
          <p:cNvPr id="15" name="Text 12"/>
          <p:cNvSpPr/>
          <p:nvPr/>
        </p:nvSpPr>
        <p:spPr>
          <a:xfrm>
            <a:off x="6903720" y="3685032"/>
            <a:ext cx="4206240" cy="8686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The single lost slot must belong to the initially available slots. Evaluating all candidate slots s in Available ensures the true critical slot is evaluated without heuristic pruning error.</a:t>
            </a:r>
            <a:endParaRPr lang="en-US" sz="950" dirty="0"/>
          </a:p>
        </p:txBody>
      </p:sp>
      <p:sp>
        <p:nvSpPr>
          <p:cNvPr id="16" name="Text 13"/>
          <p:cNvSpPr/>
          <p:nvPr/>
        </p:nvSpPr>
        <p:spPr>
          <a:xfrm>
            <a:off x="6903720" y="4654296"/>
            <a:ext cx="4206240" cy="237744"/>
          </a:xfrm>
          <a:prstGeom prst="rect">
            <a:avLst/>
          </a:prstGeom>
          <a:noFill/>
          <a:ln/>
        </p:spPr>
        <p:txBody>
          <a:bodyPr wrap="square" rtlCol="0" anchor="ctr"/>
          <a:lstStyle/>
          <a:p>
            <a:pPr indent="0" marL="0">
              <a:buNone/>
            </a:pPr>
            <a:r>
              <a:rPr lang="en-US" sz="1100" b="1" dirty="0">
                <a:solidFill>
                  <a:srgbClr val="38BDF8"/>
                </a:solidFill>
                <a:latin typeface="Segoe UI" pitchFamily="34" charset="0"/>
                <a:ea typeface="Segoe UI" pitchFamily="34" charset="-122"/>
                <a:cs typeface="Segoe UI" pitchFamily="34" charset="-120"/>
              </a:rPr>
              <a:t>Lemma 3: Rebuild Soundness</a:t>
            </a:r>
            <a:endParaRPr lang="en-US" sz="1100" dirty="0"/>
          </a:p>
        </p:txBody>
      </p:sp>
      <p:sp>
        <p:nvSpPr>
          <p:cNvPr id="17" name="Text 14"/>
          <p:cNvSpPr/>
          <p:nvPr/>
        </p:nvSpPr>
        <p:spPr>
          <a:xfrm>
            <a:off x="6903720" y="4892040"/>
            <a:ext cx="4206240" cy="8686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Rebuilding afresh from the pre-sorted list without slot s produces the exact optimal contingency schedule, correctly capturing job rescheduling effects and secondary displacements.</a:t>
            </a:r>
            <a:endParaRPr lang="en-US" sz="950" dirty="0"/>
          </a:p>
        </p:txBody>
      </p:sp>
      <p:sp>
        <p:nvSpPr>
          <p:cNvPr id="18" name="Shape 15"/>
          <p:cNvSpPr/>
          <p:nvPr/>
        </p:nvSpPr>
        <p:spPr>
          <a:xfrm>
            <a:off x="731520" y="6355080"/>
            <a:ext cx="10728655" cy="0"/>
          </a:xfrm>
          <a:prstGeom prst="line">
            <a:avLst/>
          </a:prstGeom>
          <a:noFill/>
          <a:ln w="9525">
            <a:solidFill>
              <a:srgbClr val="334155"/>
            </a:solidFill>
            <a:prstDash val="solid"/>
          </a:ln>
        </p:spPr>
      </p:sp>
      <p:sp>
        <p:nvSpPr>
          <p:cNvPr id="19" name="Text 16"/>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20" name="Text 17"/>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6 of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06 / SYSTEM ARCHITECTURE</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Cross-Platform Dual-Runtime Architecture</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Shared algorithmic core powering high-speed CLI engines and a zero-dependency web platform.</a:t>
            </a:r>
            <a:endParaRPr lang="en-US" sz="1200" dirty="0"/>
          </a:p>
        </p:txBody>
      </p:sp>
      <p:sp>
        <p:nvSpPr>
          <p:cNvPr id="5" name="Shape 3"/>
          <p:cNvSpPr/>
          <p:nvPr/>
        </p:nvSpPr>
        <p:spPr>
          <a:xfrm>
            <a:off x="731520" y="1554480"/>
            <a:ext cx="10728655" cy="1325880"/>
          </a:xfrm>
          <a:prstGeom prst="roundRect">
            <a:avLst>
              <a:gd name="adj" fmla="val 8276"/>
            </a:avLst>
          </a:prstGeom>
          <a:solidFill>
            <a:srgbClr val="1E293B"/>
          </a:solidFill>
          <a:ln w="12700">
            <a:solidFill>
              <a:srgbClr val="334155"/>
            </a:solidFill>
            <a:prstDash val="solid"/>
          </a:ln>
        </p:spPr>
      </p:sp>
      <p:sp>
        <p:nvSpPr>
          <p:cNvPr id="6" name="Text 4"/>
          <p:cNvSpPr/>
          <p:nvPr/>
        </p:nvSpPr>
        <p:spPr>
          <a:xfrm>
            <a:off x="1005840" y="1691640"/>
            <a:ext cx="4114800" cy="201168"/>
          </a:xfrm>
          <a:prstGeom prst="rect">
            <a:avLst/>
          </a:prstGeom>
          <a:noFill/>
          <a:ln/>
        </p:spPr>
        <p:txBody>
          <a:bodyPr wrap="square" rtlCol="0" anchor="ctr"/>
          <a:lstStyle/>
          <a:p>
            <a:pPr indent="0" marL="0">
              <a:buNone/>
            </a:pPr>
            <a:r>
              <a:rPr lang="en-US" sz="850" b="1" dirty="0">
                <a:solidFill>
                  <a:srgbClr val="38BDF8"/>
                </a:solidFill>
                <a:latin typeface="Segoe UI" pitchFamily="34" charset="0"/>
                <a:ea typeface="Segoe UI" pitchFamily="34" charset="-122"/>
                <a:cs typeface="Segoe UI" pitchFamily="34" charset="-120"/>
              </a:rPr>
              <a:t>PRESENTATION &amp; VISUALIZATION LAYER</a:t>
            </a:r>
            <a:endParaRPr lang="en-US" sz="850" dirty="0"/>
          </a:p>
        </p:txBody>
      </p:sp>
      <p:sp>
        <p:nvSpPr>
          <p:cNvPr id="7" name="Text 5"/>
          <p:cNvSpPr/>
          <p:nvPr/>
        </p:nvSpPr>
        <p:spPr>
          <a:xfrm>
            <a:off x="1005840" y="1874520"/>
            <a:ext cx="41148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Interactive Web Dashboard (SPA)</a:t>
            </a:r>
            <a:endParaRPr lang="en-US" sz="1300" dirty="0"/>
          </a:p>
        </p:txBody>
      </p:sp>
      <p:sp>
        <p:nvSpPr>
          <p:cNvPr id="8" name="Text 6"/>
          <p:cNvSpPr/>
          <p:nvPr/>
        </p:nvSpPr>
        <p:spPr>
          <a:xfrm>
            <a:off x="1005840" y="2212848"/>
            <a:ext cx="4114800" cy="548640"/>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HTML5 • Modern CSS Custom Properties • Vanilla ES2022 • Hash Router</a:t>
            </a:r>
            <a:endParaRPr lang="en-US" sz="950" dirty="0"/>
          </a:p>
        </p:txBody>
      </p:sp>
      <p:sp>
        <p:nvSpPr>
          <p:cNvPr id="9" name="Shape 7"/>
          <p:cNvSpPr/>
          <p:nvPr/>
        </p:nvSpPr>
        <p:spPr>
          <a:xfrm>
            <a:off x="5303520" y="1773936"/>
            <a:ext cx="64008" cy="64008"/>
          </a:xfrm>
          <a:prstGeom prst="ellipse">
            <a:avLst/>
          </a:prstGeom>
          <a:solidFill>
            <a:srgbClr val="38BDF8"/>
          </a:solidFill>
          <a:ln w="12700">
            <a:solidFill>
              <a:srgbClr val="38BDF8"/>
            </a:solidFill>
            <a:prstDash val="solid"/>
          </a:ln>
        </p:spPr>
      </p:sp>
      <p:sp>
        <p:nvSpPr>
          <p:cNvPr id="10" name="Text 8"/>
          <p:cNvSpPr/>
          <p:nvPr/>
        </p:nvSpPr>
        <p:spPr>
          <a:xfrm>
            <a:off x="5486400" y="1719072"/>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Responsive Hash Router: #/overview, #/jobs, #/visualization, #/critical, #/tests, #/complexity</a:t>
            </a:r>
            <a:endParaRPr lang="en-US" sz="950" dirty="0"/>
          </a:p>
        </p:txBody>
      </p:sp>
      <p:sp>
        <p:nvSpPr>
          <p:cNvPr id="11" name="Shape 9"/>
          <p:cNvSpPr/>
          <p:nvPr/>
        </p:nvSpPr>
        <p:spPr>
          <a:xfrm>
            <a:off x="5303520" y="2121408"/>
            <a:ext cx="64008" cy="64008"/>
          </a:xfrm>
          <a:prstGeom prst="ellipse">
            <a:avLst/>
          </a:prstGeom>
          <a:solidFill>
            <a:srgbClr val="38BDF8"/>
          </a:solidFill>
          <a:ln w="12700">
            <a:solidFill>
              <a:srgbClr val="38BDF8"/>
            </a:solidFill>
            <a:prstDash val="solid"/>
          </a:ln>
        </p:spPr>
      </p:sp>
      <p:sp>
        <p:nvSpPr>
          <p:cNvPr id="12" name="Text 10"/>
          <p:cNvSpPr/>
          <p:nvPr/>
        </p:nvSpPr>
        <p:spPr>
          <a:xfrm>
            <a:off x="5486400" y="2066544"/>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State Management: Reactive in-memory state engine without React, Vue, or heavy bundle overhead</a:t>
            </a:r>
            <a:endParaRPr lang="en-US" sz="950" dirty="0"/>
          </a:p>
        </p:txBody>
      </p:sp>
      <p:sp>
        <p:nvSpPr>
          <p:cNvPr id="13" name="Shape 11"/>
          <p:cNvSpPr/>
          <p:nvPr/>
        </p:nvSpPr>
        <p:spPr>
          <a:xfrm>
            <a:off x="5303520" y="2468880"/>
            <a:ext cx="64008" cy="64008"/>
          </a:xfrm>
          <a:prstGeom prst="ellipse">
            <a:avLst/>
          </a:prstGeom>
          <a:solidFill>
            <a:srgbClr val="38BDF8"/>
          </a:solidFill>
          <a:ln w="12700">
            <a:solidFill>
              <a:srgbClr val="38BDF8"/>
            </a:solidFill>
            <a:prstDash val="solid"/>
          </a:ln>
        </p:spPr>
      </p:sp>
      <p:sp>
        <p:nvSpPr>
          <p:cNvPr id="14" name="Text 12"/>
          <p:cNvSpPr/>
          <p:nvPr/>
        </p:nvSpPr>
        <p:spPr>
          <a:xfrm>
            <a:off x="5486400" y="2414016"/>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Zero Runtime Dependencies: 100% self-contained, loads in &lt; 30ms, offline-first execution</a:t>
            </a:r>
            <a:endParaRPr lang="en-US" sz="950" dirty="0"/>
          </a:p>
        </p:txBody>
      </p:sp>
      <p:sp>
        <p:nvSpPr>
          <p:cNvPr id="15" name="Shape 13"/>
          <p:cNvSpPr/>
          <p:nvPr/>
        </p:nvSpPr>
        <p:spPr>
          <a:xfrm>
            <a:off x="731520" y="3035808"/>
            <a:ext cx="10728655" cy="1325880"/>
          </a:xfrm>
          <a:prstGeom prst="roundRect">
            <a:avLst>
              <a:gd name="adj" fmla="val 8276"/>
            </a:avLst>
          </a:prstGeom>
          <a:solidFill>
            <a:srgbClr val="1E293B"/>
          </a:solidFill>
          <a:ln w="12700">
            <a:solidFill>
              <a:srgbClr val="334155"/>
            </a:solidFill>
            <a:prstDash val="solid"/>
          </a:ln>
        </p:spPr>
      </p:sp>
      <p:sp>
        <p:nvSpPr>
          <p:cNvPr id="16" name="Text 14"/>
          <p:cNvSpPr/>
          <p:nvPr/>
        </p:nvSpPr>
        <p:spPr>
          <a:xfrm>
            <a:off x="1005840" y="3172968"/>
            <a:ext cx="4114800" cy="201168"/>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ISOMORPHIC SCHEDULING ENGINE</a:t>
            </a:r>
            <a:endParaRPr lang="en-US" sz="850" dirty="0"/>
          </a:p>
        </p:txBody>
      </p:sp>
      <p:sp>
        <p:nvSpPr>
          <p:cNvPr id="17" name="Text 15"/>
          <p:cNvSpPr/>
          <p:nvPr/>
        </p:nvSpPr>
        <p:spPr>
          <a:xfrm>
            <a:off x="1005840" y="3355848"/>
            <a:ext cx="41148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Dual-Engine Parity Core</a:t>
            </a:r>
            <a:endParaRPr lang="en-US" sz="1300" dirty="0"/>
          </a:p>
        </p:txBody>
      </p:sp>
      <p:sp>
        <p:nvSpPr>
          <p:cNvPr id="18" name="Text 16"/>
          <p:cNvSpPr/>
          <p:nvPr/>
        </p:nvSpPr>
        <p:spPr>
          <a:xfrm>
            <a:off x="1005840" y="3694176"/>
            <a:ext cx="4114800" cy="548640"/>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Python 3 Reference CLI (deadline_scheduler.py) + JS Engine (assets/js/algorithm.js)</a:t>
            </a:r>
            <a:endParaRPr lang="en-US" sz="950" dirty="0"/>
          </a:p>
        </p:txBody>
      </p:sp>
      <p:sp>
        <p:nvSpPr>
          <p:cNvPr id="19" name="Shape 17"/>
          <p:cNvSpPr/>
          <p:nvPr/>
        </p:nvSpPr>
        <p:spPr>
          <a:xfrm>
            <a:off x="5303520" y="3255264"/>
            <a:ext cx="64008" cy="64008"/>
          </a:xfrm>
          <a:prstGeom prst="ellipse">
            <a:avLst/>
          </a:prstGeom>
          <a:solidFill>
            <a:srgbClr val="10B981"/>
          </a:solidFill>
          <a:ln w="12700">
            <a:solidFill>
              <a:srgbClr val="10B981"/>
            </a:solidFill>
            <a:prstDash val="solid"/>
          </a:ln>
        </p:spPr>
      </p:sp>
      <p:sp>
        <p:nvSpPr>
          <p:cNvPr id="20" name="Text 18"/>
          <p:cNvSpPr/>
          <p:nvPr/>
        </p:nvSpPr>
        <p:spPr>
          <a:xfrm>
            <a:off x="5486400" y="3200400"/>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Shared Algorithmic Logic: Universal CommonJS / ES Module running natively in browser and Node.js</a:t>
            </a:r>
            <a:endParaRPr lang="en-US" sz="950" dirty="0"/>
          </a:p>
        </p:txBody>
      </p:sp>
      <p:sp>
        <p:nvSpPr>
          <p:cNvPr id="21" name="Shape 19"/>
          <p:cNvSpPr/>
          <p:nvPr/>
        </p:nvSpPr>
        <p:spPr>
          <a:xfrm>
            <a:off x="5303520" y="3602736"/>
            <a:ext cx="64008" cy="64008"/>
          </a:xfrm>
          <a:prstGeom prst="ellipse">
            <a:avLst/>
          </a:prstGeom>
          <a:solidFill>
            <a:srgbClr val="10B981"/>
          </a:solidFill>
          <a:ln w="12700">
            <a:solidFill>
              <a:srgbClr val="10B981"/>
            </a:solidFill>
            <a:prstDash val="solid"/>
          </a:ln>
        </p:spPr>
      </p:sp>
      <p:sp>
        <p:nvSpPr>
          <p:cNvPr id="22" name="Text 20"/>
          <p:cNvSpPr/>
          <p:nvPr/>
        </p:nvSpPr>
        <p:spPr>
          <a:xfrm>
            <a:off x="5486400" y="3547872"/>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Reference CLI Implementation: High-performance stdin/stdout stream processing for automated evaluation</a:t>
            </a:r>
            <a:endParaRPr lang="en-US" sz="950" dirty="0"/>
          </a:p>
        </p:txBody>
      </p:sp>
      <p:sp>
        <p:nvSpPr>
          <p:cNvPr id="23" name="Shape 21"/>
          <p:cNvSpPr/>
          <p:nvPr/>
        </p:nvSpPr>
        <p:spPr>
          <a:xfrm>
            <a:off x="5303520" y="3950208"/>
            <a:ext cx="64008" cy="64008"/>
          </a:xfrm>
          <a:prstGeom prst="ellipse">
            <a:avLst/>
          </a:prstGeom>
          <a:solidFill>
            <a:srgbClr val="10B981"/>
          </a:solidFill>
          <a:ln w="12700">
            <a:solidFill>
              <a:srgbClr val="10B981"/>
            </a:solidFill>
            <a:prstDash val="solid"/>
          </a:ln>
        </p:spPr>
      </p:sp>
      <p:sp>
        <p:nvSpPr>
          <p:cNvPr id="24" name="Text 22"/>
          <p:cNvSpPr/>
          <p:nvPr/>
        </p:nvSpPr>
        <p:spPr>
          <a:xfrm>
            <a:off x="5486400" y="3895344"/>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Deterministic Tie-Breaker: Bit-level output parity between Python and JavaScript runtimes</a:t>
            </a:r>
            <a:endParaRPr lang="en-US" sz="950" dirty="0"/>
          </a:p>
        </p:txBody>
      </p:sp>
      <p:sp>
        <p:nvSpPr>
          <p:cNvPr id="25" name="Shape 23"/>
          <p:cNvSpPr/>
          <p:nvPr/>
        </p:nvSpPr>
        <p:spPr>
          <a:xfrm>
            <a:off x="731520" y="4517136"/>
            <a:ext cx="10728655" cy="1325880"/>
          </a:xfrm>
          <a:prstGeom prst="roundRect">
            <a:avLst>
              <a:gd name="adj" fmla="val 8276"/>
            </a:avLst>
          </a:prstGeom>
          <a:solidFill>
            <a:srgbClr val="1E293B"/>
          </a:solidFill>
          <a:ln w="12700">
            <a:solidFill>
              <a:srgbClr val="334155"/>
            </a:solidFill>
            <a:prstDash val="solid"/>
          </a:ln>
        </p:spPr>
      </p:sp>
      <p:sp>
        <p:nvSpPr>
          <p:cNvPr id="26" name="Text 24"/>
          <p:cNvSpPr/>
          <p:nvPr/>
        </p:nvSpPr>
        <p:spPr>
          <a:xfrm>
            <a:off x="1005840" y="4654296"/>
            <a:ext cx="4114800" cy="201168"/>
          </a:xfrm>
          <a:prstGeom prst="rect">
            <a:avLst/>
          </a:prstGeom>
          <a:noFill/>
          <a:ln/>
        </p:spPr>
        <p:txBody>
          <a:bodyPr wrap="square" rtlCol="0" anchor="ctr"/>
          <a:lstStyle/>
          <a:p>
            <a:pPr indent="0" marL="0">
              <a:buNone/>
            </a:pPr>
            <a:r>
              <a:rPr lang="en-US" sz="850" b="1" dirty="0">
                <a:solidFill>
                  <a:srgbClr val="F59E0B"/>
                </a:solidFill>
                <a:latin typeface="Segoe UI" pitchFamily="34" charset="0"/>
                <a:ea typeface="Segoe UI" pitchFamily="34" charset="-122"/>
                <a:cs typeface="Segoe UI" pitchFamily="34" charset="-120"/>
              </a:rPr>
              <a:t>VERIFICATION &amp; QUALITY ASSURANCE</a:t>
            </a:r>
            <a:endParaRPr lang="en-US" sz="850" dirty="0"/>
          </a:p>
        </p:txBody>
      </p:sp>
      <p:sp>
        <p:nvSpPr>
          <p:cNvPr id="27" name="Text 25"/>
          <p:cNvSpPr/>
          <p:nvPr/>
        </p:nvSpPr>
        <p:spPr>
          <a:xfrm>
            <a:off x="1005840" y="4837176"/>
            <a:ext cx="4114800" cy="32004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Automated Parity &amp; Fuzzing Harness</a:t>
            </a:r>
            <a:endParaRPr lang="en-US" sz="1300" dirty="0"/>
          </a:p>
        </p:txBody>
      </p:sp>
      <p:sp>
        <p:nvSpPr>
          <p:cNvPr id="28" name="Text 26"/>
          <p:cNvSpPr/>
          <p:nvPr/>
        </p:nvSpPr>
        <p:spPr>
          <a:xfrm>
            <a:off x="1005840" y="5175504"/>
            <a:ext cx="4114800" cy="548640"/>
          </a:xfrm>
          <a:prstGeom prst="rect">
            <a:avLst/>
          </a:prstGeom>
          <a:noFill/>
          <a:ln/>
        </p:spPr>
        <p:txBody>
          <a:bodyPr wrap="square" rtlCol="0" anchor="ctr"/>
          <a:lstStyle/>
          <a:p>
            <a:pPr indent="0" marL="0">
              <a:buNone/>
            </a:pPr>
            <a:r>
              <a:rPr lang="en-US" sz="950" dirty="0">
                <a:solidFill>
                  <a:srgbClr val="64748B"/>
                </a:solidFill>
                <a:latin typeface="Segoe UI" pitchFamily="34" charset="0"/>
                <a:ea typeface="Segoe UI" pitchFamily="34" charset="-122"/>
                <a:cs typeface="Segoe UI" pitchFamily="34" charset="-120"/>
              </a:rPr>
              <a:t>Node Test Runner • Python Unittest • 120 Shuffled Stress Test Scenarios</a:t>
            </a:r>
            <a:endParaRPr lang="en-US" sz="950" dirty="0"/>
          </a:p>
        </p:txBody>
      </p:sp>
      <p:sp>
        <p:nvSpPr>
          <p:cNvPr id="29" name="Shape 27"/>
          <p:cNvSpPr/>
          <p:nvPr/>
        </p:nvSpPr>
        <p:spPr>
          <a:xfrm>
            <a:off x="5303520" y="4736592"/>
            <a:ext cx="64008" cy="64008"/>
          </a:xfrm>
          <a:prstGeom prst="ellipse">
            <a:avLst/>
          </a:prstGeom>
          <a:solidFill>
            <a:srgbClr val="F59E0B"/>
          </a:solidFill>
          <a:ln w="12700">
            <a:solidFill>
              <a:srgbClr val="F59E0B"/>
            </a:solidFill>
            <a:prstDash val="solid"/>
          </a:ln>
        </p:spPr>
      </p:sp>
      <p:sp>
        <p:nvSpPr>
          <p:cNvPr id="30" name="Text 28"/>
          <p:cNvSpPr/>
          <p:nvPr/>
        </p:nvSpPr>
        <p:spPr>
          <a:xfrm>
            <a:off x="5486400" y="4681728"/>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Cross-Language Parity: Automated test suite feeding identical inputs into Python and Node.js</a:t>
            </a:r>
            <a:endParaRPr lang="en-US" sz="950" dirty="0"/>
          </a:p>
        </p:txBody>
      </p:sp>
      <p:sp>
        <p:nvSpPr>
          <p:cNvPr id="31" name="Shape 29"/>
          <p:cNvSpPr/>
          <p:nvPr/>
        </p:nvSpPr>
        <p:spPr>
          <a:xfrm>
            <a:off x="5303520" y="5084064"/>
            <a:ext cx="64008" cy="64008"/>
          </a:xfrm>
          <a:prstGeom prst="ellipse">
            <a:avLst/>
          </a:prstGeom>
          <a:solidFill>
            <a:srgbClr val="F59E0B"/>
          </a:solidFill>
          <a:ln w="12700">
            <a:solidFill>
              <a:srgbClr val="F59E0B"/>
            </a:solidFill>
            <a:prstDash val="solid"/>
          </a:ln>
        </p:spPr>
      </p:sp>
      <p:sp>
        <p:nvSpPr>
          <p:cNvPr id="32" name="Text 30"/>
          <p:cNvSpPr/>
          <p:nvPr/>
        </p:nvSpPr>
        <p:spPr>
          <a:xfrm>
            <a:off x="5486400" y="5029200"/>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Fuzzing &amp; Edge Cases: Verifies all-slots-blocked, single-slot horizons, and multi-tier profit ties</a:t>
            </a:r>
            <a:endParaRPr lang="en-US" sz="950" dirty="0"/>
          </a:p>
        </p:txBody>
      </p:sp>
      <p:sp>
        <p:nvSpPr>
          <p:cNvPr id="33" name="Shape 31"/>
          <p:cNvSpPr/>
          <p:nvPr/>
        </p:nvSpPr>
        <p:spPr>
          <a:xfrm>
            <a:off x="5303520" y="5431536"/>
            <a:ext cx="64008" cy="64008"/>
          </a:xfrm>
          <a:prstGeom prst="ellipse">
            <a:avLst/>
          </a:prstGeom>
          <a:solidFill>
            <a:srgbClr val="F59E0B"/>
          </a:solidFill>
          <a:ln w="12700">
            <a:solidFill>
              <a:srgbClr val="F59E0B"/>
            </a:solidFill>
            <a:prstDash val="solid"/>
          </a:ln>
        </p:spPr>
      </p:sp>
      <p:sp>
        <p:nvSpPr>
          <p:cNvPr id="34" name="Text 32"/>
          <p:cNvSpPr/>
          <p:nvPr/>
        </p:nvSpPr>
        <p:spPr>
          <a:xfrm>
            <a:off x="5486400" y="5376672"/>
            <a:ext cx="5669280" cy="310896"/>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In-Browser Test View: Enables clients and evaluators to execute full test suites in the browser</a:t>
            </a:r>
            <a:endParaRPr lang="en-US" sz="950" dirty="0"/>
          </a:p>
        </p:txBody>
      </p:sp>
      <p:sp>
        <p:nvSpPr>
          <p:cNvPr id="35" name="Shape 33"/>
          <p:cNvSpPr/>
          <p:nvPr/>
        </p:nvSpPr>
        <p:spPr>
          <a:xfrm>
            <a:off x="731520" y="6355080"/>
            <a:ext cx="10728655" cy="0"/>
          </a:xfrm>
          <a:prstGeom prst="line">
            <a:avLst/>
          </a:prstGeom>
          <a:noFill/>
          <a:ln w="9525">
            <a:solidFill>
              <a:srgbClr val="334155"/>
            </a:solidFill>
            <a:prstDash val="solid"/>
          </a:ln>
        </p:spPr>
      </p:sp>
      <p:sp>
        <p:nvSpPr>
          <p:cNvPr id="36" name="Text 34"/>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37" name="Text 35"/>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7 of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07 / KEY FEATURES</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Interactive Visualization &amp; Decision Tools</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Core interactive capabilities transforming theoretical algorithms into actionable operational tools.</a:t>
            </a:r>
            <a:endParaRPr lang="en-US" sz="1200" dirty="0"/>
          </a:p>
        </p:txBody>
      </p:sp>
      <p:sp>
        <p:nvSpPr>
          <p:cNvPr id="5" name="Shape 3"/>
          <p:cNvSpPr/>
          <p:nvPr/>
        </p:nvSpPr>
        <p:spPr>
          <a:xfrm>
            <a:off x="731520" y="1554480"/>
            <a:ext cx="5242255" cy="2103120"/>
          </a:xfrm>
          <a:prstGeom prst="roundRect">
            <a:avLst>
              <a:gd name="adj" fmla="val 5217"/>
            </a:avLst>
          </a:prstGeom>
          <a:solidFill>
            <a:srgbClr val="1E293B"/>
          </a:solidFill>
          <a:ln w="12700">
            <a:solidFill>
              <a:srgbClr val="334155"/>
            </a:solidFill>
            <a:prstDash val="solid"/>
          </a:ln>
        </p:spPr>
      </p:sp>
      <p:sp>
        <p:nvSpPr>
          <p:cNvPr id="6" name="Text 4"/>
          <p:cNvSpPr/>
          <p:nvPr/>
        </p:nvSpPr>
        <p:spPr>
          <a:xfrm>
            <a:off x="1005840" y="1737360"/>
            <a:ext cx="4114800" cy="201168"/>
          </a:xfrm>
          <a:prstGeom prst="rect">
            <a:avLst/>
          </a:prstGeom>
          <a:noFill/>
          <a:ln/>
        </p:spPr>
        <p:txBody>
          <a:bodyPr wrap="square" rtlCol="0" anchor="ctr"/>
          <a:lstStyle/>
          <a:p>
            <a:pPr indent="0" marL="0">
              <a:buNone/>
            </a:pPr>
            <a:r>
              <a:rPr lang="en-US" sz="850" b="1" dirty="0">
                <a:solidFill>
                  <a:srgbClr val="38BDF8"/>
                </a:solidFill>
                <a:latin typeface="Segoe UI" pitchFamily="34" charset="0"/>
                <a:ea typeface="Segoe UI" pitchFamily="34" charset="-122"/>
                <a:cs typeface="Segoe UI" pitchFamily="34" charset="-120"/>
              </a:rPr>
              <a:t>ALGORITHM VISUALIZER</a:t>
            </a:r>
            <a:endParaRPr lang="en-US" sz="850" dirty="0"/>
          </a:p>
        </p:txBody>
      </p:sp>
      <p:sp>
        <p:nvSpPr>
          <p:cNvPr id="7" name="Text 5"/>
          <p:cNvSpPr/>
          <p:nvPr/>
        </p:nvSpPr>
        <p:spPr>
          <a:xfrm>
            <a:off x="1005840" y="1938528"/>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Step-by-Step Greedy Visualizer</a:t>
            </a:r>
            <a:endParaRPr lang="en-US" sz="1400" dirty="0"/>
          </a:p>
        </p:txBody>
      </p:sp>
      <p:sp>
        <p:nvSpPr>
          <p:cNvPr id="8" name="Text 6"/>
          <p:cNvSpPr/>
          <p:nvPr/>
        </p:nvSpPr>
        <p:spPr>
          <a:xfrm>
            <a:off x="1005840" y="2331720"/>
            <a:ext cx="4663440" cy="11887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Watch the greedy algorithm execute step-by-step. Includes Play, Pause, Step-Forward, and Step-Backward controls. Animates candidate job sorting, backward slot search, and real-time slot claiming with color-coded status badges.</a:t>
            </a:r>
            <a:endParaRPr lang="en-US" sz="1000" dirty="0"/>
          </a:p>
        </p:txBody>
      </p:sp>
      <p:sp>
        <p:nvSpPr>
          <p:cNvPr id="9" name="Shape 7"/>
          <p:cNvSpPr/>
          <p:nvPr/>
        </p:nvSpPr>
        <p:spPr>
          <a:xfrm>
            <a:off x="6217920" y="1554480"/>
            <a:ext cx="5242255" cy="2103120"/>
          </a:xfrm>
          <a:prstGeom prst="roundRect">
            <a:avLst>
              <a:gd name="adj" fmla="val 5217"/>
            </a:avLst>
          </a:prstGeom>
          <a:solidFill>
            <a:srgbClr val="1E293B"/>
          </a:solidFill>
          <a:ln w="12700">
            <a:solidFill>
              <a:srgbClr val="334155"/>
            </a:solidFill>
            <a:prstDash val="solid"/>
          </a:ln>
        </p:spPr>
      </p:sp>
      <p:sp>
        <p:nvSpPr>
          <p:cNvPr id="10" name="Text 8"/>
          <p:cNvSpPr/>
          <p:nvPr/>
        </p:nvSpPr>
        <p:spPr>
          <a:xfrm>
            <a:off x="6492240" y="1737360"/>
            <a:ext cx="4114800" cy="201168"/>
          </a:xfrm>
          <a:prstGeom prst="rect">
            <a:avLst/>
          </a:prstGeom>
          <a:noFill/>
          <a:ln/>
        </p:spPr>
        <p:txBody>
          <a:bodyPr wrap="square" rtlCol="0" anchor="ctr"/>
          <a:lstStyle/>
          <a:p>
            <a:pPr indent="0" marL="0">
              <a:buNone/>
            </a:pPr>
            <a:r>
              <a:rPr lang="en-US" sz="850" b="1" dirty="0">
                <a:solidFill>
                  <a:srgbClr val="F43F5E"/>
                </a:solidFill>
                <a:latin typeface="Segoe UI" pitchFamily="34" charset="0"/>
                <a:ea typeface="Segoe UI" pitchFamily="34" charset="-122"/>
                <a:cs typeface="Segoe UI" pitchFamily="34" charset="-120"/>
              </a:rPr>
              <a:t>SENSITIVITY ANALYTICS</a:t>
            </a:r>
            <a:endParaRPr lang="en-US" sz="850" dirty="0"/>
          </a:p>
        </p:txBody>
      </p:sp>
      <p:sp>
        <p:nvSpPr>
          <p:cNvPr id="11" name="Text 9"/>
          <p:cNvSpPr/>
          <p:nvPr/>
        </p:nvSpPr>
        <p:spPr>
          <a:xfrm>
            <a:off x="6492240" y="1938528"/>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Critical Slot Loss Bar Chart</a:t>
            </a:r>
            <a:endParaRPr lang="en-US" sz="1400" dirty="0"/>
          </a:p>
        </p:txBody>
      </p:sp>
      <p:sp>
        <p:nvSpPr>
          <p:cNvPr id="12" name="Text 10"/>
          <p:cNvSpPr/>
          <p:nvPr/>
        </p:nvSpPr>
        <p:spPr>
          <a:xfrm>
            <a:off x="6492240" y="2331720"/>
            <a:ext cx="4663440" cy="11887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Dynamic SVG sensitivity bar chart illustrating profit loss for every candidate slot across the horizon. Highlights the critical slot in bright crimson and displays exact before-and-after revenue deltas.</a:t>
            </a:r>
            <a:endParaRPr lang="en-US" sz="1000" dirty="0"/>
          </a:p>
        </p:txBody>
      </p:sp>
      <p:sp>
        <p:nvSpPr>
          <p:cNvPr id="13" name="Shape 11"/>
          <p:cNvSpPr/>
          <p:nvPr/>
        </p:nvSpPr>
        <p:spPr>
          <a:xfrm>
            <a:off x="731520" y="3840480"/>
            <a:ext cx="5242255" cy="2103120"/>
          </a:xfrm>
          <a:prstGeom prst="roundRect">
            <a:avLst>
              <a:gd name="adj" fmla="val 5217"/>
            </a:avLst>
          </a:prstGeom>
          <a:solidFill>
            <a:srgbClr val="1E293B"/>
          </a:solidFill>
          <a:ln w="12700">
            <a:solidFill>
              <a:srgbClr val="334155"/>
            </a:solidFill>
            <a:prstDash val="solid"/>
          </a:ln>
        </p:spPr>
      </p:sp>
      <p:sp>
        <p:nvSpPr>
          <p:cNvPr id="14" name="Text 12"/>
          <p:cNvSpPr/>
          <p:nvPr/>
        </p:nvSpPr>
        <p:spPr>
          <a:xfrm>
            <a:off x="1005840" y="4023360"/>
            <a:ext cx="4114800" cy="201168"/>
          </a:xfrm>
          <a:prstGeom prst="rect">
            <a:avLst/>
          </a:prstGeom>
          <a:noFill/>
          <a:ln/>
        </p:spPr>
        <p:txBody>
          <a:bodyPr wrap="square" rtlCol="0" anchor="ctr"/>
          <a:lstStyle/>
          <a:p>
            <a:pPr indent="0" marL="0">
              <a:buNone/>
            </a:pPr>
            <a:r>
              <a:rPr lang="en-US" sz="850" b="1" dirty="0">
                <a:solidFill>
                  <a:srgbClr val="F59E0B"/>
                </a:solidFill>
                <a:latin typeface="Segoe UI" pitchFamily="34" charset="0"/>
                <a:ea typeface="Segoe UI" pitchFamily="34" charset="-122"/>
                <a:cs typeface="Segoe UI" pitchFamily="34" charset="-120"/>
              </a:rPr>
              <a:t>SCHEDULE COMPARISON</a:t>
            </a:r>
            <a:endParaRPr lang="en-US" sz="850" dirty="0"/>
          </a:p>
        </p:txBody>
      </p:sp>
      <p:sp>
        <p:nvSpPr>
          <p:cNvPr id="15" name="Text 13"/>
          <p:cNvSpPr/>
          <p:nvPr/>
        </p:nvSpPr>
        <p:spPr>
          <a:xfrm>
            <a:off x="1005840" y="4224528"/>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Dual Timeline Gantt View</a:t>
            </a:r>
            <a:endParaRPr lang="en-US" sz="1400" dirty="0"/>
          </a:p>
        </p:txBody>
      </p:sp>
      <p:sp>
        <p:nvSpPr>
          <p:cNvPr id="16" name="Text 14"/>
          <p:cNvSpPr/>
          <p:nvPr/>
        </p:nvSpPr>
        <p:spPr>
          <a:xfrm>
            <a:off x="1005840" y="4617720"/>
            <a:ext cx="4663440" cy="11887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Side-by-side comparative timelines displaying the Baseline Optimal Schedule against the Rebuilt After-Loss Schedule. Instantly reveals which jobs shifted, which survived, and which were rejected.</a:t>
            </a:r>
            <a:endParaRPr lang="en-US" sz="1000" dirty="0"/>
          </a:p>
        </p:txBody>
      </p:sp>
      <p:sp>
        <p:nvSpPr>
          <p:cNvPr id="17" name="Shape 15"/>
          <p:cNvSpPr/>
          <p:nvPr/>
        </p:nvSpPr>
        <p:spPr>
          <a:xfrm>
            <a:off x="6217920" y="3840480"/>
            <a:ext cx="5242255" cy="2103120"/>
          </a:xfrm>
          <a:prstGeom prst="roundRect">
            <a:avLst>
              <a:gd name="adj" fmla="val 5217"/>
            </a:avLst>
          </a:prstGeom>
          <a:solidFill>
            <a:srgbClr val="1E293B"/>
          </a:solidFill>
          <a:ln w="12700">
            <a:solidFill>
              <a:srgbClr val="334155"/>
            </a:solidFill>
            <a:prstDash val="solid"/>
          </a:ln>
        </p:spPr>
      </p:sp>
      <p:sp>
        <p:nvSpPr>
          <p:cNvPr id="18" name="Text 16"/>
          <p:cNvSpPr/>
          <p:nvPr/>
        </p:nvSpPr>
        <p:spPr>
          <a:xfrm>
            <a:off x="6492240" y="4023360"/>
            <a:ext cx="4114800" cy="201168"/>
          </a:xfrm>
          <a:prstGeom prst="rect">
            <a:avLst/>
          </a:prstGeom>
          <a:noFill/>
          <a:ln/>
        </p:spPr>
        <p:txBody>
          <a:bodyPr wrap="square" rtlCol="0" anchor="ctr"/>
          <a:lstStyle/>
          <a:p>
            <a:pPr indent="0" marL="0">
              <a:buNone/>
            </a:pPr>
            <a:r>
              <a:rPr lang="en-US" sz="850" b="1" dirty="0">
                <a:solidFill>
                  <a:srgbClr val="818CF8"/>
                </a:solidFill>
                <a:latin typeface="Segoe UI" pitchFamily="34" charset="0"/>
                <a:ea typeface="Segoe UI" pitchFamily="34" charset="-122"/>
                <a:cs typeface="Segoe UI" pitchFamily="34" charset="-120"/>
              </a:rPr>
              <a:t>REAL-TIME SIMULATION</a:t>
            </a:r>
            <a:endParaRPr lang="en-US" sz="850" dirty="0"/>
          </a:p>
        </p:txBody>
      </p:sp>
      <p:sp>
        <p:nvSpPr>
          <p:cNvPr id="19" name="Text 17"/>
          <p:cNvSpPr/>
          <p:nvPr/>
        </p:nvSpPr>
        <p:spPr>
          <a:xfrm>
            <a:off x="6492240" y="4224528"/>
            <a:ext cx="4663440" cy="32004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Dynamic Job &amp; Horizon Configurator</a:t>
            </a:r>
            <a:endParaRPr lang="en-US" sz="1400" dirty="0"/>
          </a:p>
        </p:txBody>
      </p:sp>
      <p:sp>
        <p:nvSpPr>
          <p:cNvPr id="20" name="Text 18"/>
          <p:cNvSpPr/>
          <p:nvPr/>
        </p:nvSpPr>
        <p:spPr>
          <a:xfrm>
            <a:off x="6492240" y="4617720"/>
            <a:ext cx="4663440" cy="1188720"/>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Interactive controls allowing users to adjust time horizon H, toggle unavailable slots, and perform CRUD operations on jobs. Schedule recalculates instantly in under 2ms upon any state change.</a:t>
            </a:r>
            <a:endParaRPr lang="en-US" sz="1000" dirty="0"/>
          </a:p>
        </p:txBody>
      </p:sp>
      <p:sp>
        <p:nvSpPr>
          <p:cNvPr id="21" name="Shape 19"/>
          <p:cNvSpPr/>
          <p:nvPr/>
        </p:nvSpPr>
        <p:spPr>
          <a:xfrm>
            <a:off x="731520" y="6355080"/>
            <a:ext cx="10728655" cy="0"/>
          </a:xfrm>
          <a:prstGeom prst="line">
            <a:avLst/>
          </a:prstGeom>
          <a:noFill/>
          <a:ln w="9525">
            <a:solidFill>
              <a:srgbClr val="334155"/>
            </a:solidFill>
            <a:prstDash val="solid"/>
          </a:ln>
        </p:spPr>
      </p:sp>
      <p:sp>
        <p:nvSpPr>
          <p:cNvPr id="22" name="Text 20"/>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23" name="Text 21"/>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8 of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08 / DEEP-DIVE FEATURES</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Engineering Excellence &amp; Platform Details</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Specialized architectural features ensuring production reliability, compliance, and developer convenience.</a:t>
            </a:r>
            <a:endParaRPr lang="en-US" sz="1200" dirty="0"/>
          </a:p>
        </p:txBody>
      </p:sp>
      <p:sp>
        <p:nvSpPr>
          <p:cNvPr id="5" name="Shape 3"/>
          <p:cNvSpPr/>
          <p:nvPr/>
        </p:nvSpPr>
        <p:spPr>
          <a:xfrm>
            <a:off x="731520" y="1554480"/>
            <a:ext cx="10728655" cy="1051560"/>
          </a:xfrm>
          <a:prstGeom prst="roundRect">
            <a:avLst>
              <a:gd name="adj" fmla="val 10435"/>
            </a:avLst>
          </a:prstGeom>
          <a:solidFill>
            <a:srgbClr val="1E293B"/>
          </a:solidFill>
          <a:ln w="12700">
            <a:solidFill>
              <a:srgbClr val="334155"/>
            </a:solidFill>
            <a:prstDash val="solid"/>
          </a:ln>
        </p:spPr>
      </p:sp>
      <p:sp>
        <p:nvSpPr>
          <p:cNvPr id="6" name="Text 4"/>
          <p:cNvSpPr/>
          <p:nvPr/>
        </p:nvSpPr>
        <p:spPr>
          <a:xfrm>
            <a:off x="1005840" y="1700784"/>
            <a:ext cx="2011680" cy="182880"/>
          </a:xfrm>
          <a:prstGeom prst="rect">
            <a:avLst/>
          </a:prstGeom>
          <a:noFill/>
          <a:ln/>
        </p:spPr>
        <p:txBody>
          <a:bodyPr wrap="square" rtlCol="0" anchor="ctr"/>
          <a:lstStyle/>
          <a:p>
            <a:pPr indent="0" marL="0">
              <a:buNone/>
            </a:pPr>
            <a:r>
              <a:rPr lang="en-US" sz="800" b="1" dirty="0">
                <a:solidFill>
                  <a:srgbClr val="10B981"/>
                </a:solidFill>
                <a:latin typeface="Segoe UI" pitchFamily="34" charset="0"/>
                <a:ea typeface="Segoe UI" pitchFamily="34" charset="-122"/>
                <a:cs typeface="Segoe UI" pitchFamily="34" charset="-120"/>
              </a:rPr>
              <a:t>TESTING SUITE</a:t>
            </a:r>
            <a:endParaRPr lang="en-US" sz="800" dirty="0"/>
          </a:p>
        </p:txBody>
      </p:sp>
      <p:sp>
        <p:nvSpPr>
          <p:cNvPr id="7" name="Text 5"/>
          <p:cNvSpPr/>
          <p:nvPr/>
        </p:nvSpPr>
        <p:spPr>
          <a:xfrm>
            <a:off x="1005840" y="1901952"/>
            <a:ext cx="3200400" cy="548640"/>
          </a:xfrm>
          <a:prstGeom prst="rect">
            <a:avLst/>
          </a:prstGeom>
          <a:noFill/>
          <a:ln/>
        </p:spPr>
        <p:txBody>
          <a:bodyPr wrap="square" rtlCol="0" anchor="ctr"/>
          <a:lstStyle/>
          <a:p>
            <a:pPr indent="0" marL="0">
              <a:buNone/>
            </a:pPr>
            <a:r>
              <a:rPr lang="en-US" sz="1200" b="1" dirty="0">
                <a:solidFill>
                  <a:srgbClr val="F8FAFC"/>
                </a:solidFill>
                <a:latin typeface="Segoe UI" pitchFamily="34" charset="0"/>
                <a:ea typeface="Segoe UI" pitchFamily="34" charset="-122"/>
                <a:cs typeface="Segoe UI" pitchFamily="34" charset="-120"/>
              </a:rPr>
              <a:t>In-Browser Test Verification Suite (#/tests)</a:t>
            </a:r>
            <a:endParaRPr lang="en-US" sz="1200" dirty="0"/>
          </a:p>
        </p:txBody>
      </p:sp>
      <p:sp>
        <p:nvSpPr>
          <p:cNvPr id="8" name="Text 6"/>
          <p:cNvSpPr/>
          <p:nvPr/>
        </p:nvSpPr>
        <p:spPr>
          <a:xfrm>
            <a:off x="4206240" y="1700784"/>
            <a:ext cx="6949440" cy="8046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Users and instructors can execute the complete official algorithm test suite directly inside the web browser. The dashboard runs edge cases (all slots unavailable, single slot, zero-loss candidates) and displays detailed microsecond execution benchmarks and assertion checks with zero terminal commands required.</a:t>
            </a:r>
            <a:endParaRPr lang="en-US" sz="950" dirty="0"/>
          </a:p>
        </p:txBody>
      </p:sp>
      <p:sp>
        <p:nvSpPr>
          <p:cNvPr id="9" name="Shape 7"/>
          <p:cNvSpPr/>
          <p:nvPr/>
        </p:nvSpPr>
        <p:spPr>
          <a:xfrm>
            <a:off x="731520" y="2697480"/>
            <a:ext cx="10728655" cy="1051560"/>
          </a:xfrm>
          <a:prstGeom prst="roundRect">
            <a:avLst>
              <a:gd name="adj" fmla="val 10435"/>
            </a:avLst>
          </a:prstGeom>
          <a:solidFill>
            <a:srgbClr val="1E293B"/>
          </a:solidFill>
          <a:ln w="12700">
            <a:solidFill>
              <a:srgbClr val="334155"/>
            </a:solidFill>
            <a:prstDash val="solid"/>
          </a:ln>
        </p:spPr>
      </p:sp>
      <p:sp>
        <p:nvSpPr>
          <p:cNvPr id="10" name="Text 8"/>
          <p:cNvSpPr/>
          <p:nvPr/>
        </p:nvSpPr>
        <p:spPr>
          <a:xfrm>
            <a:off x="1005840" y="2843784"/>
            <a:ext cx="2011680" cy="182880"/>
          </a:xfrm>
          <a:prstGeom prst="rect">
            <a:avLst/>
          </a:prstGeom>
          <a:noFill/>
          <a:ln/>
        </p:spPr>
        <p:txBody>
          <a:bodyPr wrap="square" rtlCol="0" anchor="ctr"/>
          <a:lstStyle/>
          <a:p>
            <a:pPr indent="0" marL="0">
              <a:buNone/>
            </a:pPr>
            <a:r>
              <a:rPr lang="en-US" sz="800" b="1" dirty="0">
                <a:solidFill>
                  <a:srgbClr val="38BDF8"/>
                </a:solidFill>
                <a:latin typeface="Segoe UI" pitchFamily="34" charset="0"/>
                <a:ea typeface="Segoe UI" pitchFamily="34" charset="-122"/>
                <a:cs typeface="Segoe UI" pitchFamily="34" charset="-120"/>
              </a:rPr>
              <a:t>DATA PORTABILITY</a:t>
            </a:r>
            <a:endParaRPr lang="en-US" sz="800" dirty="0"/>
          </a:p>
        </p:txBody>
      </p:sp>
      <p:sp>
        <p:nvSpPr>
          <p:cNvPr id="11" name="Text 9"/>
          <p:cNvSpPr/>
          <p:nvPr/>
        </p:nvSpPr>
        <p:spPr>
          <a:xfrm>
            <a:off x="1005840" y="3044952"/>
            <a:ext cx="3200400" cy="548640"/>
          </a:xfrm>
          <a:prstGeom prst="rect">
            <a:avLst/>
          </a:prstGeom>
          <a:noFill/>
          <a:ln/>
        </p:spPr>
        <p:txBody>
          <a:bodyPr wrap="square" rtlCol="0" anchor="ctr"/>
          <a:lstStyle/>
          <a:p>
            <a:pPr indent="0" marL="0">
              <a:buNone/>
            </a:pPr>
            <a:r>
              <a:rPr lang="en-US" sz="1200" b="1" dirty="0">
                <a:solidFill>
                  <a:srgbClr val="F8FAFC"/>
                </a:solidFill>
                <a:latin typeface="Segoe UI" pitchFamily="34" charset="0"/>
                <a:ea typeface="Segoe UI" pitchFamily="34" charset="-122"/>
                <a:cs typeface="Segoe UI" pitchFamily="34" charset="-120"/>
              </a:rPr>
              <a:t>Standard CLI Input/Output Exporter</a:t>
            </a:r>
            <a:endParaRPr lang="en-US" sz="1200" dirty="0"/>
          </a:p>
        </p:txBody>
      </p:sp>
      <p:sp>
        <p:nvSpPr>
          <p:cNvPr id="12" name="Text 10"/>
          <p:cNvSpPr/>
          <p:nvPr/>
        </p:nvSpPr>
        <p:spPr>
          <a:xfrm>
            <a:off x="4206240" y="2843784"/>
            <a:ext cx="6949440" cy="8046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Full interoperability with standard competitive programming and grading benchmarks. Paste raw space-delimited input directly into the configuration modal, or export the active schedule state to standard test format or JSON with a single click.</a:t>
            </a:r>
            <a:endParaRPr lang="en-US" sz="950" dirty="0"/>
          </a:p>
        </p:txBody>
      </p:sp>
      <p:sp>
        <p:nvSpPr>
          <p:cNvPr id="13" name="Shape 11"/>
          <p:cNvSpPr/>
          <p:nvPr/>
        </p:nvSpPr>
        <p:spPr>
          <a:xfrm>
            <a:off x="731520" y="3840480"/>
            <a:ext cx="10728655" cy="1051560"/>
          </a:xfrm>
          <a:prstGeom prst="roundRect">
            <a:avLst>
              <a:gd name="adj" fmla="val 10435"/>
            </a:avLst>
          </a:prstGeom>
          <a:solidFill>
            <a:srgbClr val="1E293B"/>
          </a:solidFill>
          <a:ln w="12700">
            <a:solidFill>
              <a:srgbClr val="334155"/>
            </a:solidFill>
            <a:prstDash val="solid"/>
          </a:ln>
        </p:spPr>
      </p:sp>
      <p:sp>
        <p:nvSpPr>
          <p:cNvPr id="14" name="Text 12"/>
          <p:cNvSpPr/>
          <p:nvPr/>
        </p:nvSpPr>
        <p:spPr>
          <a:xfrm>
            <a:off x="1005840" y="3986784"/>
            <a:ext cx="2011680" cy="182880"/>
          </a:xfrm>
          <a:prstGeom prst="rect">
            <a:avLst/>
          </a:prstGeom>
          <a:noFill/>
          <a:ln/>
        </p:spPr>
        <p:txBody>
          <a:bodyPr wrap="square" rtlCol="0" anchor="ctr"/>
          <a:lstStyle/>
          <a:p>
            <a:pPr indent="0" marL="0">
              <a:buNone/>
            </a:pPr>
            <a:r>
              <a:rPr lang="en-US" sz="800" b="1" dirty="0">
                <a:solidFill>
                  <a:srgbClr val="F59E0B"/>
                </a:solidFill>
                <a:latin typeface="Segoe UI" pitchFamily="34" charset="0"/>
                <a:ea typeface="Segoe UI" pitchFamily="34" charset="-122"/>
                <a:cs typeface="Segoe UI" pitchFamily="34" charset="-120"/>
              </a:rPr>
              <a:t>UI/UX SYSTEM</a:t>
            </a:r>
            <a:endParaRPr lang="en-US" sz="800" dirty="0"/>
          </a:p>
        </p:txBody>
      </p:sp>
      <p:sp>
        <p:nvSpPr>
          <p:cNvPr id="15" name="Text 13"/>
          <p:cNvSpPr/>
          <p:nvPr/>
        </p:nvSpPr>
        <p:spPr>
          <a:xfrm>
            <a:off x="1005840" y="4187952"/>
            <a:ext cx="3200400" cy="548640"/>
          </a:xfrm>
          <a:prstGeom prst="rect">
            <a:avLst/>
          </a:prstGeom>
          <a:noFill/>
          <a:ln/>
        </p:spPr>
        <p:txBody>
          <a:bodyPr wrap="square" rtlCol="0" anchor="ctr"/>
          <a:lstStyle/>
          <a:p>
            <a:pPr indent="0" marL="0">
              <a:buNone/>
            </a:pPr>
            <a:r>
              <a:rPr lang="en-US" sz="1200" b="1" dirty="0">
                <a:solidFill>
                  <a:srgbClr val="F8FAFC"/>
                </a:solidFill>
                <a:latin typeface="Segoe UI" pitchFamily="34" charset="0"/>
                <a:ea typeface="Segoe UI" pitchFamily="34" charset="-122"/>
                <a:cs typeface="Segoe UI" pitchFamily="34" charset="-120"/>
              </a:rPr>
              <a:t>Accessible Dark/Light Theming System</a:t>
            </a:r>
            <a:endParaRPr lang="en-US" sz="1200" dirty="0"/>
          </a:p>
        </p:txBody>
      </p:sp>
      <p:sp>
        <p:nvSpPr>
          <p:cNvPr id="16" name="Text 14"/>
          <p:cNvSpPr/>
          <p:nvPr/>
        </p:nvSpPr>
        <p:spPr>
          <a:xfrm>
            <a:off x="4206240" y="3986784"/>
            <a:ext cx="6949440" cy="8046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Engineered with WCAG AA compliant contrast ratios across dark mode (#0B1120) and light mode (#F8FAFC). Persists user preference via localStorage and features responsive layouts with collapsible sidebar navigation for mobile, tablet, and desktop.</a:t>
            </a:r>
            <a:endParaRPr lang="en-US" sz="950" dirty="0"/>
          </a:p>
        </p:txBody>
      </p:sp>
      <p:sp>
        <p:nvSpPr>
          <p:cNvPr id="17" name="Shape 15"/>
          <p:cNvSpPr/>
          <p:nvPr/>
        </p:nvSpPr>
        <p:spPr>
          <a:xfrm>
            <a:off x="731520" y="4983480"/>
            <a:ext cx="10728655" cy="1051560"/>
          </a:xfrm>
          <a:prstGeom prst="roundRect">
            <a:avLst>
              <a:gd name="adj" fmla="val 10435"/>
            </a:avLst>
          </a:prstGeom>
          <a:solidFill>
            <a:srgbClr val="1E293B"/>
          </a:solidFill>
          <a:ln w="12700">
            <a:solidFill>
              <a:srgbClr val="334155"/>
            </a:solidFill>
            <a:prstDash val="solid"/>
          </a:ln>
        </p:spPr>
      </p:sp>
      <p:sp>
        <p:nvSpPr>
          <p:cNvPr id="18" name="Text 16"/>
          <p:cNvSpPr/>
          <p:nvPr/>
        </p:nvSpPr>
        <p:spPr>
          <a:xfrm>
            <a:off x="1005840" y="5129784"/>
            <a:ext cx="2011680" cy="182880"/>
          </a:xfrm>
          <a:prstGeom prst="rect">
            <a:avLst/>
          </a:prstGeom>
          <a:noFill/>
          <a:ln/>
        </p:spPr>
        <p:txBody>
          <a:bodyPr wrap="square" rtlCol="0" anchor="ctr"/>
          <a:lstStyle/>
          <a:p>
            <a:pPr indent="0" marL="0">
              <a:buNone/>
            </a:pPr>
            <a:r>
              <a:rPr lang="en-US" sz="800" b="1" dirty="0">
                <a:solidFill>
                  <a:srgbClr val="818CF8"/>
                </a:solidFill>
                <a:latin typeface="Segoe UI" pitchFamily="34" charset="0"/>
                <a:ea typeface="Segoe UI" pitchFamily="34" charset="-122"/>
                <a:cs typeface="Segoe UI" pitchFamily="34" charset="-120"/>
              </a:rPr>
              <a:t>ROUTING &amp; STATE</a:t>
            </a:r>
            <a:endParaRPr lang="en-US" sz="800" dirty="0"/>
          </a:p>
        </p:txBody>
      </p:sp>
      <p:sp>
        <p:nvSpPr>
          <p:cNvPr id="19" name="Text 17"/>
          <p:cNvSpPr/>
          <p:nvPr/>
        </p:nvSpPr>
        <p:spPr>
          <a:xfrm>
            <a:off x="1005840" y="5330952"/>
            <a:ext cx="3200400" cy="548640"/>
          </a:xfrm>
          <a:prstGeom prst="rect">
            <a:avLst/>
          </a:prstGeom>
          <a:noFill/>
          <a:ln/>
        </p:spPr>
        <p:txBody>
          <a:bodyPr wrap="square" rtlCol="0" anchor="ctr"/>
          <a:lstStyle/>
          <a:p>
            <a:pPr indent="0" marL="0">
              <a:buNone/>
            </a:pPr>
            <a:r>
              <a:rPr lang="en-US" sz="1200" b="1" dirty="0">
                <a:solidFill>
                  <a:srgbClr val="F8FAFC"/>
                </a:solidFill>
                <a:latin typeface="Segoe UI" pitchFamily="34" charset="0"/>
                <a:ea typeface="Segoe UI" pitchFamily="34" charset="-122"/>
                <a:cs typeface="Segoe UI" pitchFamily="34" charset="-120"/>
              </a:rPr>
              <a:t>Hash-Based Zero-Reload Navigation</a:t>
            </a:r>
            <a:endParaRPr lang="en-US" sz="1200" dirty="0"/>
          </a:p>
        </p:txBody>
      </p:sp>
      <p:sp>
        <p:nvSpPr>
          <p:cNvPr id="20" name="Text 18"/>
          <p:cNvSpPr/>
          <p:nvPr/>
        </p:nvSpPr>
        <p:spPr>
          <a:xfrm>
            <a:off x="4206240" y="5129784"/>
            <a:ext cx="6949440" cy="80467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Utilizes seamless hash routing (#/overview, #/jobs, #/visualization, #/critical, #/tests, #/complexity, #/documentation). Allows deep-linking to specific views without server-side rewrite rules, enabling instant deployment on GitHub Pages or static S3 buckets.</a:t>
            </a:r>
            <a:endParaRPr lang="en-US" sz="950" dirty="0"/>
          </a:p>
        </p:txBody>
      </p:sp>
      <p:sp>
        <p:nvSpPr>
          <p:cNvPr id="21" name="Shape 19"/>
          <p:cNvSpPr/>
          <p:nvPr/>
        </p:nvSpPr>
        <p:spPr>
          <a:xfrm>
            <a:off x="731520" y="6355080"/>
            <a:ext cx="10728655" cy="0"/>
          </a:xfrm>
          <a:prstGeom prst="line">
            <a:avLst/>
          </a:prstGeom>
          <a:noFill/>
          <a:ln w="9525">
            <a:solidFill>
              <a:srgbClr val="334155"/>
            </a:solidFill>
            <a:prstDash val="solid"/>
          </a:ln>
        </p:spPr>
      </p:sp>
      <p:sp>
        <p:nvSpPr>
          <p:cNvPr id="22" name="Text 20"/>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23" name="Text 21"/>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9 of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09 / IMPACT &amp; RESULTS</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Quantitative Results &amp; Experimental Validation</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Empirical validation across official test benches, stress suites, and operational case studies.</a:t>
            </a:r>
            <a:endParaRPr lang="en-US" sz="1200" dirty="0"/>
          </a:p>
        </p:txBody>
      </p:sp>
      <p:sp>
        <p:nvSpPr>
          <p:cNvPr id="5" name="Shape 3"/>
          <p:cNvSpPr/>
          <p:nvPr/>
        </p:nvSpPr>
        <p:spPr>
          <a:xfrm>
            <a:off x="731520" y="1554480"/>
            <a:ext cx="5212080" cy="4480560"/>
          </a:xfrm>
          <a:prstGeom prst="roundRect">
            <a:avLst>
              <a:gd name="adj" fmla="val 2449"/>
            </a:avLst>
          </a:prstGeom>
          <a:solidFill>
            <a:srgbClr val="1E293B"/>
          </a:solidFill>
          <a:ln w="12700">
            <a:solidFill>
              <a:srgbClr val="334155"/>
            </a:solidFill>
            <a:prstDash val="solid"/>
          </a:ln>
        </p:spPr>
      </p:sp>
      <p:sp>
        <p:nvSpPr>
          <p:cNvPr id="6" name="Text 4"/>
          <p:cNvSpPr/>
          <p:nvPr/>
        </p:nvSpPr>
        <p:spPr>
          <a:xfrm>
            <a:off x="1005840" y="1755648"/>
            <a:ext cx="4663440" cy="32004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Case Study: Official Sample 1 Analysis</a:t>
            </a:r>
            <a:endParaRPr lang="en-US" sz="1400" dirty="0"/>
          </a:p>
        </p:txBody>
      </p:sp>
      <p:sp>
        <p:nvSpPr>
          <p:cNvPr id="7" name="Text 5"/>
          <p:cNvSpPr/>
          <p:nvPr/>
        </p:nvSpPr>
        <p:spPr>
          <a:xfrm>
            <a:off x="1005840" y="2121408"/>
            <a:ext cx="4663440" cy="256032"/>
          </a:xfrm>
          <a:prstGeom prst="rect">
            <a:avLst/>
          </a:prstGeom>
          <a:noFill/>
          <a:ln/>
        </p:spPr>
        <p:txBody>
          <a:bodyPr wrap="square" rtlCol="0" anchor="ctr"/>
          <a:lstStyle/>
          <a:p>
            <a:pPr indent="0" marL="0">
              <a:buNone/>
            </a:pPr>
            <a:r>
              <a:rPr lang="en-US" sz="1000" dirty="0">
                <a:solidFill>
                  <a:srgbClr val="64748B"/>
                </a:solidFill>
                <a:latin typeface="Segoe UI" pitchFamily="34" charset="0"/>
                <a:ea typeface="Segoe UI" pitchFamily="34" charset="-122"/>
                <a:cs typeface="Segoe UI" pitchFamily="34" charset="-120"/>
              </a:rPr>
              <a:t>Input: n = 5 jobs, H = 3 slots, k = 0 unavailable slots.</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60120" y="2468880"/>
          <a:ext cx="4754880" cy="914400"/>
        </p:xfrm>
        <a:graphic>
          <a:graphicData uri="http://schemas.openxmlformats.org/drawingml/2006/table">
            <a:tbl>
              <a:tblPr/>
              <a:tblGrid>
                <a:gridCol w="822960"/>
                <a:gridCol w="914400"/>
                <a:gridCol w="822960"/>
                <a:gridCol w="2194560"/>
              </a:tblGrid>
              <a:tr h="274320">
                <a:tc>
                  <a:txBody>
                    <a:bodyPr/>
                    <a:lstStyle/>
                    <a:p>
                      <a:pPr indent="0" marL="0">
                        <a:buNone/>
                      </a:pPr>
                      <a:r>
                        <a:rPr lang="en-US" sz="900" b="1" dirty="0">
                          <a:solidFill>
                            <a:srgbClr val="F8FAFC"/>
                          </a:solidFill>
                          <a:latin typeface="Segoe UI" pitchFamily="34" charset="0"/>
                          <a:ea typeface="Segoe UI" pitchFamily="34" charset="-122"/>
                          <a:cs typeface="Segoe UI" pitchFamily="34" charset="-120"/>
                        </a:rPr>
                        <a:t>Job ID</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00" b="1" dirty="0">
                          <a:solidFill>
                            <a:srgbClr val="F8FAFC"/>
                          </a:solidFill>
                          <a:latin typeface="Segoe UI" pitchFamily="34" charset="0"/>
                          <a:ea typeface="Segoe UI" pitchFamily="34" charset="-122"/>
                          <a:cs typeface="Segoe UI" pitchFamily="34" charset="-120"/>
                        </a:rPr>
                        <a:t>Deadline</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00" b="1" dirty="0">
                          <a:solidFill>
                            <a:srgbClr val="F8FAFC"/>
                          </a:solidFill>
                          <a:latin typeface="Segoe UI" pitchFamily="34" charset="0"/>
                          <a:ea typeface="Segoe UI" pitchFamily="34" charset="-122"/>
                          <a:cs typeface="Segoe UI" pitchFamily="34" charset="-120"/>
                        </a:rPr>
                        <a:t>Profit</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c>
                  <a:txBody>
                    <a:bodyPr/>
                    <a:lstStyle/>
                    <a:p>
                      <a:pPr indent="0" marL="0">
                        <a:buNone/>
                      </a:pPr>
                      <a:r>
                        <a:rPr lang="en-US" sz="900" b="1" dirty="0">
                          <a:solidFill>
                            <a:srgbClr val="F8FAFC"/>
                          </a:solidFill>
                          <a:latin typeface="Segoe UI" pitchFamily="34" charset="0"/>
                          <a:ea typeface="Segoe UI" pitchFamily="34" charset="-122"/>
                          <a:cs typeface="Segoe UI" pitchFamily="34" charset="-120"/>
                        </a:rPr>
                        <a:t>Baseline Status</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0F172A"/>
                    </a:solidFill>
                  </a:tcPr>
                </a:tc>
              </a:tr>
              <a:tr h="256032">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Job 1</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100</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10B981"/>
                          </a:solidFill>
                          <a:latin typeface="Segoe UI" pitchFamily="34" charset="0"/>
                          <a:ea typeface="Segoe UI" pitchFamily="34" charset="-122"/>
                          <a:cs typeface="Segoe UI" pitchFamily="34" charset="-120"/>
                        </a:rPr>
                        <a:t>Slot 2 (Claimed)</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256032">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Job 3</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2</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27</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10B981"/>
                          </a:solidFill>
                          <a:latin typeface="Segoe UI" pitchFamily="34" charset="0"/>
                          <a:ea typeface="Segoe UI" pitchFamily="34" charset="-122"/>
                          <a:cs typeface="Segoe UI" pitchFamily="34" charset="-120"/>
                        </a:rPr>
                        <a:t>Slot 1 (Claimed)</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256032">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Job 4</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25</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F43F5E"/>
                          </a:solidFill>
                          <a:latin typeface="Segoe UI" pitchFamily="34" charset="0"/>
                          <a:ea typeface="Segoe UI" pitchFamily="34" charset="-122"/>
                          <a:cs typeface="Segoe UI" pitchFamily="34" charset="-120"/>
                        </a:rPr>
                        <a:t>Rejected (No slot)</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256032">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Job 2</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1</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19</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F43F5E"/>
                          </a:solidFill>
                          <a:latin typeface="Segoe UI" pitchFamily="34" charset="0"/>
                          <a:ea typeface="Segoe UI" pitchFamily="34" charset="-122"/>
                          <a:cs typeface="Segoe UI" pitchFamily="34" charset="-120"/>
                        </a:rPr>
                        <a:t>Rejected (No slot)</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r h="256032">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Job 5</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3</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94A3B8"/>
                          </a:solidFill>
                          <a:latin typeface="Segoe UI" pitchFamily="34" charset="0"/>
                          <a:ea typeface="Segoe UI" pitchFamily="34" charset="-122"/>
                          <a:cs typeface="Segoe UI" pitchFamily="34" charset="-120"/>
                        </a:rPr>
                        <a:t>15</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c>
                  <a:txBody>
                    <a:bodyPr/>
                    <a:lstStyle/>
                    <a:p>
                      <a:pPr indent="0" marL="0">
                        <a:buNone/>
                      </a:pPr>
                      <a:r>
                        <a:rPr lang="en-US" sz="900" dirty="0">
                          <a:solidFill>
                            <a:srgbClr val="10B981"/>
                          </a:solidFill>
                          <a:latin typeface="Segoe UI" pitchFamily="34" charset="0"/>
                          <a:ea typeface="Segoe UI" pitchFamily="34" charset="-122"/>
                          <a:cs typeface="Segoe UI" pitchFamily="34" charset="-120"/>
                        </a:rPr>
                        <a:t>Slot 3 (Claimed)</a:t>
                      </a:r>
                      <a:endParaRPr lang="en-US" sz="900" dirty="0">
                        <a:latin typeface="Segoe UI" charset="0"/>
                        <a:ea typeface="Segoe UI" charset="0"/>
                        <a:cs typeface="Segoe UI" charset="0"/>
                      </a:endParaRPr>
                    </a:p>
                  </a:txBody>
                  <a:tcPr marL="91440" marR="91440" marT="45720" marB="45720">
                    <a:lnL w="9525" cap="flat" cmpd="sng" algn="ctr">
                      <a:solidFill>
                        <a:srgbClr val="334155"/>
                      </a:solidFill>
                      <a:prstDash val="solid"/>
                      <a:round/>
                      <a:headEnd type="none" w="med" len="med"/>
                      <a:tailEnd type="none" w="med" len="med"/>
                    </a:lnL>
                    <a:lnR w="9525" cap="flat" cmpd="sng" algn="ctr">
                      <a:solidFill>
                        <a:srgbClr val="334155"/>
                      </a:solidFill>
                      <a:prstDash val="solid"/>
                      <a:round/>
                      <a:headEnd type="none" w="med" len="med"/>
                      <a:tailEnd type="none" w="med" len="med"/>
                    </a:lnR>
                    <a:lnT w="9525" cap="flat" cmpd="sng" algn="ctr">
                      <a:solidFill>
                        <a:srgbClr val="334155"/>
                      </a:solidFill>
                      <a:prstDash val="solid"/>
                      <a:round/>
                      <a:headEnd type="none" w="med" len="med"/>
                      <a:tailEnd type="none" w="med" len="med"/>
                    </a:lnT>
                    <a:lnB w="9525" cap="flat" cmpd="sng" algn="ctr">
                      <a:solidFill>
                        <a:srgbClr val="334155"/>
                      </a:solidFill>
                      <a:prstDash val="solid"/>
                      <a:round/>
                      <a:headEnd type="none" w="med" len="med"/>
                      <a:tailEnd type="none" w="med" len="med"/>
                    </a:lnB>
                    <a:solidFill>
                      <a:srgbClr val="1E293B"/>
                    </a:solidFill>
                  </a:tcPr>
                </a:tc>
              </a:tr>
            </a:tbl>
          </a:graphicData>
        </a:graphic>
      </p:graphicFrame>
      <p:sp>
        <p:nvSpPr>
          <p:cNvPr id="9" name="Text 6"/>
          <p:cNvSpPr/>
          <p:nvPr/>
        </p:nvSpPr>
        <p:spPr>
          <a:xfrm>
            <a:off x="1005840" y="4206240"/>
            <a:ext cx="4663440" cy="237744"/>
          </a:xfrm>
          <a:prstGeom prst="rect">
            <a:avLst/>
          </a:prstGeom>
          <a:noFill/>
          <a:ln/>
        </p:spPr>
        <p:txBody>
          <a:bodyPr wrap="square" rtlCol="0" anchor="ctr"/>
          <a:lstStyle/>
          <a:p>
            <a:pPr indent="0" marL="0">
              <a:buNone/>
            </a:pPr>
            <a:r>
              <a:rPr lang="en-US" sz="1050" b="1" dirty="0">
                <a:solidFill>
                  <a:srgbClr val="F59E0B"/>
                </a:solidFill>
                <a:latin typeface="Segoe UI" pitchFamily="34" charset="0"/>
                <a:ea typeface="Segoe UI" pitchFamily="34" charset="-122"/>
                <a:cs typeface="Segoe UI" pitchFamily="34" charset="-120"/>
              </a:rPr>
              <a:t>Key Findings on Sample 1:</a:t>
            </a:r>
            <a:endParaRPr lang="en-US" sz="1050" dirty="0"/>
          </a:p>
        </p:txBody>
      </p:sp>
      <p:sp>
        <p:nvSpPr>
          <p:cNvPr id="10" name="Text 7"/>
          <p:cNvSpPr/>
          <p:nvPr/>
        </p:nvSpPr>
        <p:spPr>
          <a:xfrm>
            <a:off x="1005840" y="4498848"/>
            <a:ext cx="4663440" cy="132588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 Optimal Baseline: Profit = 142 (Jobs 3, 1, 5). Rejected = 2 jobs (2, 4).</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Critical Slot Tie: Removing Slot 1 causes loss of 27; removing Slot 2 causes loss of 27. Tied!</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Deterministic Resolution: Slot 1 is chosen (min slot index).</a:t>
            </a:r>
            <a:endParaRPr lang="en-US" sz="950" dirty="0"/>
          </a:p>
          <a:p>
            <a:pPr indent="0" marL="0">
              <a:buNone/>
            </a:pPr>
            <a:r>
              <a:rPr lang="en-US" sz="950" dirty="0">
                <a:solidFill>
                  <a:srgbClr val="94A3B8"/>
                </a:solidFill>
                <a:latin typeface="Segoe UI" pitchFamily="34" charset="0"/>
                <a:ea typeface="Segoe UI" pitchFamily="34" charset="-122"/>
                <a:cs typeface="Segoe UI" pitchFamily="34" charset="-120"/>
              </a:rPr>
              <a:t>• After-Loss Retention: 115 profit successfully protected.</a:t>
            </a:r>
            <a:endParaRPr lang="en-US" sz="950" dirty="0"/>
          </a:p>
        </p:txBody>
      </p:sp>
      <p:sp>
        <p:nvSpPr>
          <p:cNvPr id="11" name="Shape 8"/>
          <p:cNvSpPr/>
          <p:nvPr/>
        </p:nvSpPr>
        <p:spPr>
          <a:xfrm>
            <a:off x="6248095" y="1554480"/>
            <a:ext cx="5212080" cy="4480560"/>
          </a:xfrm>
          <a:prstGeom prst="roundRect">
            <a:avLst>
              <a:gd name="adj" fmla="val 2449"/>
            </a:avLst>
          </a:prstGeom>
          <a:solidFill>
            <a:srgbClr val="1E293B"/>
          </a:solidFill>
          <a:ln w="12700">
            <a:solidFill>
              <a:srgbClr val="334155"/>
            </a:solidFill>
            <a:prstDash val="solid"/>
          </a:ln>
        </p:spPr>
      </p:sp>
      <p:sp>
        <p:nvSpPr>
          <p:cNvPr id="12" name="Text 9"/>
          <p:cNvSpPr/>
          <p:nvPr/>
        </p:nvSpPr>
        <p:spPr>
          <a:xfrm>
            <a:off x="6522415" y="1755648"/>
            <a:ext cx="4663440" cy="320040"/>
          </a:xfrm>
          <a:prstGeom prst="rect">
            <a:avLst/>
          </a:prstGeom>
          <a:noFill/>
          <a:ln/>
        </p:spPr>
        <p:txBody>
          <a:bodyPr wrap="square" rtlCol="0" anchor="ctr"/>
          <a:lstStyle/>
          <a:p>
            <a:pPr indent="0" marL="0">
              <a:buNone/>
            </a:pPr>
            <a:r>
              <a:rPr lang="en-US" sz="1400" b="1" dirty="0">
                <a:solidFill>
                  <a:srgbClr val="10B981"/>
                </a:solidFill>
                <a:latin typeface="Segoe UI" pitchFamily="34" charset="0"/>
                <a:ea typeface="Segoe UI" pitchFamily="34" charset="-122"/>
                <a:cs typeface="Segoe UI" pitchFamily="34" charset="-120"/>
              </a:rPr>
              <a:t>Verification Metrics &amp; Parity Suite</a:t>
            </a:r>
            <a:endParaRPr lang="en-US" sz="1400" dirty="0"/>
          </a:p>
        </p:txBody>
      </p:sp>
      <p:sp>
        <p:nvSpPr>
          <p:cNvPr id="13" name="Shape 10"/>
          <p:cNvSpPr/>
          <p:nvPr/>
        </p:nvSpPr>
        <p:spPr>
          <a:xfrm>
            <a:off x="6522415" y="2240280"/>
            <a:ext cx="2240280" cy="1051560"/>
          </a:xfrm>
          <a:prstGeom prst="roundRect">
            <a:avLst>
              <a:gd name="adj" fmla="val 10435"/>
            </a:avLst>
          </a:prstGeom>
          <a:solidFill>
            <a:srgbClr val="0F172A"/>
          </a:solidFill>
          <a:ln w="12700">
            <a:solidFill>
              <a:srgbClr val="334155"/>
            </a:solidFill>
            <a:prstDash val="solid"/>
          </a:ln>
        </p:spPr>
      </p:sp>
      <p:sp>
        <p:nvSpPr>
          <p:cNvPr id="14" name="Text 11"/>
          <p:cNvSpPr/>
          <p:nvPr/>
        </p:nvSpPr>
        <p:spPr>
          <a:xfrm>
            <a:off x="6659575" y="2331720"/>
            <a:ext cx="1965960" cy="365760"/>
          </a:xfrm>
          <a:prstGeom prst="rect">
            <a:avLst/>
          </a:prstGeom>
          <a:noFill/>
          <a:ln/>
        </p:spPr>
        <p:txBody>
          <a:bodyPr wrap="square" rtlCol="0" anchor="ctr"/>
          <a:lstStyle/>
          <a:p>
            <a:pPr indent="0" marL="0">
              <a:buNone/>
            </a:pPr>
            <a:r>
              <a:rPr lang="en-US" sz="2000" b="1" dirty="0">
                <a:solidFill>
                  <a:srgbClr val="38BDF8"/>
                </a:solidFill>
                <a:latin typeface="Segoe UI" pitchFamily="34" charset="0"/>
                <a:ea typeface="Segoe UI" pitchFamily="34" charset="-122"/>
                <a:cs typeface="Segoe UI" pitchFamily="34" charset="-120"/>
              </a:rPr>
              <a:t>100%</a:t>
            </a:r>
            <a:endParaRPr lang="en-US" sz="2000" dirty="0"/>
          </a:p>
        </p:txBody>
      </p:sp>
      <p:sp>
        <p:nvSpPr>
          <p:cNvPr id="15" name="Text 12"/>
          <p:cNvSpPr/>
          <p:nvPr/>
        </p:nvSpPr>
        <p:spPr>
          <a:xfrm>
            <a:off x="6659575" y="2715768"/>
            <a:ext cx="1965960" cy="228600"/>
          </a:xfrm>
          <a:prstGeom prst="rect">
            <a:avLst/>
          </a:prstGeom>
          <a:noFill/>
          <a:ln/>
        </p:spPr>
        <p:txBody>
          <a:bodyPr wrap="square" rtlCol="0" anchor="ctr"/>
          <a:lstStyle/>
          <a:p>
            <a:pPr indent="0" marL="0">
              <a:buNone/>
            </a:pPr>
            <a:r>
              <a:rPr lang="en-US" sz="1000" b="1" dirty="0">
                <a:solidFill>
                  <a:srgbClr val="F8FAFC"/>
                </a:solidFill>
                <a:latin typeface="Segoe UI" pitchFamily="34" charset="0"/>
                <a:ea typeface="Segoe UI" pitchFamily="34" charset="-122"/>
                <a:cs typeface="Segoe UI" pitchFamily="34" charset="-120"/>
              </a:rPr>
              <a:t>Test Parity Rate</a:t>
            </a:r>
            <a:endParaRPr lang="en-US" sz="1000" dirty="0"/>
          </a:p>
        </p:txBody>
      </p:sp>
      <p:sp>
        <p:nvSpPr>
          <p:cNvPr id="16" name="Text 13"/>
          <p:cNvSpPr/>
          <p:nvPr/>
        </p:nvSpPr>
        <p:spPr>
          <a:xfrm>
            <a:off x="6659575" y="2953512"/>
            <a:ext cx="1965960" cy="32004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Identical outputs across 120 randomized stress test cases</a:t>
            </a:r>
            <a:endParaRPr lang="en-US" sz="850" dirty="0"/>
          </a:p>
        </p:txBody>
      </p:sp>
      <p:sp>
        <p:nvSpPr>
          <p:cNvPr id="17" name="Shape 14"/>
          <p:cNvSpPr/>
          <p:nvPr/>
        </p:nvSpPr>
        <p:spPr>
          <a:xfrm>
            <a:off x="8945575" y="2240280"/>
            <a:ext cx="2240280" cy="1051560"/>
          </a:xfrm>
          <a:prstGeom prst="roundRect">
            <a:avLst>
              <a:gd name="adj" fmla="val 10435"/>
            </a:avLst>
          </a:prstGeom>
          <a:solidFill>
            <a:srgbClr val="0F172A"/>
          </a:solidFill>
          <a:ln w="12700">
            <a:solidFill>
              <a:srgbClr val="334155"/>
            </a:solidFill>
            <a:prstDash val="solid"/>
          </a:ln>
        </p:spPr>
      </p:sp>
      <p:sp>
        <p:nvSpPr>
          <p:cNvPr id="18" name="Text 15"/>
          <p:cNvSpPr/>
          <p:nvPr/>
        </p:nvSpPr>
        <p:spPr>
          <a:xfrm>
            <a:off x="9082735" y="2331720"/>
            <a:ext cx="1965960" cy="365760"/>
          </a:xfrm>
          <a:prstGeom prst="rect">
            <a:avLst/>
          </a:prstGeom>
          <a:noFill/>
          <a:ln/>
        </p:spPr>
        <p:txBody>
          <a:bodyPr wrap="square" rtlCol="0" anchor="ctr"/>
          <a:lstStyle/>
          <a:p>
            <a:pPr indent="0" marL="0">
              <a:buNone/>
            </a:pPr>
            <a:r>
              <a:rPr lang="en-US" sz="2000" b="1" dirty="0">
                <a:solidFill>
                  <a:srgbClr val="38BDF8"/>
                </a:solidFill>
                <a:latin typeface="Segoe UI" pitchFamily="34" charset="0"/>
                <a:ea typeface="Segoe UI" pitchFamily="34" charset="-122"/>
                <a:cs typeface="Segoe UI" pitchFamily="34" charset="-120"/>
              </a:rPr>
              <a:t>&lt; 2ms</a:t>
            </a:r>
            <a:endParaRPr lang="en-US" sz="2000" dirty="0"/>
          </a:p>
        </p:txBody>
      </p:sp>
      <p:sp>
        <p:nvSpPr>
          <p:cNvPr id="19" name="Text 16"/>
          <p:cNvSpPr/>
          <p:nvPr/>
        </p:nvSpPr>
        <p:spPr>
          <a:xfrm>
            <a:off x="9082735" y="2715768"/>
            <a:ext cx="1965960" cy="228600"/>
          </a:xfrm>
          <a:prstGeom prst="rect">
            <a:avLst/>
          </a:prstGeom>
          <a:noFill/>
          <a:ln/>
        </p:spPr>
        <p:txBody>
          <a:bodyPr wrap="square" rtlCol="0" anchor="ctr"/>
          <a:lstStyle/>
          <a:p>
            <a:pPr indent="0" marL="0">
              <a:buNone/>
            </a:pPr>
            <a:r>
              <a:rPr lang="en-US" sz="1000" b="1" dirty="0">
                <a:solidFill>
                  <a:srgbClr val="F8FAFC"/>
                </a:solidFill>
                <a:latin typeface="Segoe UI" pitchFamily="34" charset="0"/>
                <a:ea typeface="Segoe UI" pitchFamily="34" charset="-122"/>
                <a:cs typeface="Segoe UI" pitchFamily="34" charset="-120"/>
              </a:rPr>
              <a:t>Maximum Latency</a:t>
            </a:r>
            <a:endParaRPr lang="en-US" sz="1000" dirty="0"/>
          </a:p>
        </p:txBody>
      </p:sp>
      <p:sp>
        <p:nvSpPr>
          <p:cNvPr id="20" name="Text 17"/>
          <p:cNvSpPr/>
          <p:nvPr/>
        </p:nvSpPr>
        <p:spPr>
          <a:xfrm>
            <a:off x="9082735" y="2953512"/>
            <a:ext cx="1965960" cy="32004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Worst-case compute time on maximum constraints (n=200, H=60)</a:t>
            </a:r>
            <a:endParaRPr lang="en-US" sz="850" dirty="0"/>
          </a:p>
        </p:txBody>
      </p:sp>
      <p:sp>
        <p:nvSpPr>
          <p:cNvPr id="21" name="Shape 18"/>
          <p:cNvSpPr/>
          <p:nvPr/>
        </p:nvSpPr>
        <p:spPr>
          <a:xfrm>
            <a:off x="6522415" y="3429000"/>
            <a:ext cx="2240280" cy="1051560"/>
          </a:xfrm>
          <a:prstGeom prst="roundRect">
            <a:avLst>
              <a:gd name="adj" fmla="val 10435"/>
            </a:avLst>
          </a:prstGeom>
          <a:solidFill>
            <a:srgbClr val="0F172A"/>
          </a:solidFill>
          <a:ln w="12700">
            <a:solidFill>
              <a:srgbClr val="334155"/>
            </a:solidFill>
            <a:prstDash val="solid"/>
          </a:ln>
        </p:spPr>
      </p:sp>
      <p:sp>
        <p:nvSpPr>
          <p:cNvPr id="22" name="Text 19"/>
          <p:cNvSpPr/>
          <p:nvPr/>
        </p:nvSpPr>
        <p:spPr>
          <a:xfrm>
            <a:off x="6659575" y="3520440"/>
            <a:ext cx="1965960" cy="365760"/>
          </a:xfrm>
          <a:prstGeom prst="rect">
            <a:avLst/>
          </a:prstGeom>
          <a:noFill/>
          <a:ln/>
        </p:spPr>
        <p:txBody>
          <a:bodyPr wrap="square" rtlCol="0" anchor="ctr"/>
          <a:lstStyle/>
          <a:p>
            <a:pPr indent="0" marL="0">
              <a:buNone/>
            </a:pPr>
            <a:r>
              <a:rPr lang="en-US" sz="2000" b="1" dirty="0">
                <a:solidFill>
                  <a:srgbClr val="38BDF8"/>
                </a:solidFill>
                <a:latin typeface="Segoe UI" pitchFamily="34" charset="0"/>
                <a:ea typeface="Segoe UI" pitchFamily="34" charset="-122"/>
                <a:cs typeface="Segoe UI" pitchFamily="34" charset="-120"/>
              </a:rPr>
              <a:t>120+</a:t>
            </a:r>
            <a:endParaRPr lang="en-US" sz="2000" dirty="0"/>
          </a:p>
        </p:txBody>
      </p:sp>
      <p:sp>
        <p:nvSpPr>
          <p:cNvPr id="23" name="Text 20"/>
          <p:cNvSpPr/>
          <p:nvPr/>
        </p:nvSpPr>
        <p:spPr>
          <a:xfrm>
            <a:off x="6659575" y="3904488"/>
            <a:ext cx="1965960" cy="228600"/>
          </a:xfrm>
          <a:prstGeom prst="rect">
            <a:avLst/>
          </a:prstGeom>
          <a:noFill/>
          <a:ln/>
        </p:spPr>
        <p:txBody>
          <a:bodyPr wrap="square" rtlCol="0" anchor="ctr"/>
          <a:lstStyle/>
          <a:p>
            <a:pPr indent="0" marL="0">
              <a:buNone/>
            </a:pPr>
            <a:r>
              <a:rPr lang="en-US" sz="1000" b="1" dirty="0">
                <a:solidFill>
                  <a:srgbClr val="F8FAFC"/>
                </a:solidFill>
                <a:latin typeface="Segoe UI" pitchFamily="34" charset="0"/>
                <a:ea typeface="Segoe UI" pitchFamily="34" charset="-122"/>
                <a:cs typeface="Segoe UI" pitchFamily="34" charset="-120"/>
              </a:rPr>
              <a:t>Stress Scenarios</a:t>
            </a:r>
            <a:endParaRPr lang="en-US" sz="1000" dirty="0"/>
          </a:p>
        </p:txBody>
      </p:sp>
      <p:sp>
        <p:nvSpPr>
          <p:cNvPr id="24" name="Text 21"/>
          <p:cNvSpPr/>
          <p:nvPr/>
        </p:nvSpPr>
        <p:spPr>
          <a:xfrm>
            <a:off x="6659575" y="4142232"/>
            <a:ext cx="1965960" cy="32004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Tested with shuffled job permutations, tie-breakers, and edge cases</a:t>
            </a:r>
            <a:endParaRPr lang="en-US" sz="850" dirty="0"/>
          </a:p>
        </p:txBody>
      </p:sp>
      <p:sp>
        <p:nvSpPr>
          <p:cNvPr id="25" name="Shape 22"/>
          <p:cNvSpPr/>
          <p:nvPr/>
        </p:nvSpPr>
        <p:spPr>
          <a:xfrm>
            <a:off x="8945575" y="3429000"/>
            <a:ext cx="2240280" cy="1051560"/>
          </a:xfrm>
          <a:prstGeom prst="roundRect">
            <a:avLst>
              <a:gd name="adj" fmla="val 10435"/>
            </a:avLst>
          </a:prstGeom>
          <a:solidFill>
            <a:srgbClr val="0F172A"/>
          </a:solidFill>
          <a:ln w="12700">
            <a:solidFill>
              <a:srgbClr val="334155"/>
            </a:solidFill>
            <a:prstDash val="solid"/>
          </a:ln>
        </p:spPr>
      </p:sp>
      <p:sp>
        <p:nvSpPr>
          <p:cNvPr id="26" name="Text 23"/>
          <p:cNvSpPr/>
          <p:nvPr/>
        </p:nvSpPr>
        <p:spPr>
          <a:xfrm>
            <a:off x="9082735" y="3520440"/>
            <a:ext cx="1965960" cy="365760"/>
          </a:xfrm>
          <a:prstGeom prst="rect">
            <a:avLst/>
          </a:prstGeom>
          <a:noFill/>
          <a:ln/>
        </p:spPr>
        <p:txBody>
          <a:bodyPr wrap="square" rtlCol="0" anchor="ctr"/>
          <a:lstStyle/>
          <a:p>
            <a:pPr indent="0" marL="0">
              <a:buNone/>
            </a:pPr>
            <a:r>
              <a:rPr lang="en-US" sz="2000" b="1" dirty="0">
                <a:solidFill>
                  <a:srgbClr val="38BDF8"/>
                </a:solidFill>
                <a:latin typeface="Segoe UI" pitchFamily="34" charset="0"/>
                <a:ea typeface="Segoe UI" pitchFamily="34" charset="-122"/>
                <a:cs typeface="Segoe UI" pitchFamily="34" charset="-120"/>
              </a:rPr>
              <a:t>0</a:t>
            </a:r>
            <a:endParaRPr lang="en-US" sz="2000" dirty="0"/>
          </a:p>
        </p:txBody>
      </p:sp>
      <p:sp>
        <p:nvSpPr>
          <p:cNvPr id="27" name="Text 24"/>
          <p:cNvSpPr/>
          <p:nvPr/>
        </p:nvSpPr>
        <p:spPr>
          <a:xfrm>
            <a:off x="9082735" y="3904488"/>
            <a:ext cx="1965960" cy="228600"/>
          </a:xfrm>
          <a:prstGeom prst="rect">
            <a:avLst/>
          </a:prstGeom>
          <a:noFill/>
          <a:ln/>
        </p:spPr>
        <p:txBody>
          <a:bodyPr wrap="square" rtlCol="0" anchor="ctr"/>
          <a:lstStyle/>
          <a:p>
            <a:pPr indent="0" marL="0">
              <a:buNone/>
            </a:pPr>
            <a:r>
              <a:rPr lang="en-US" sz="1000" b="1" dirty="0">
                <a:solidFill>
                  <a:srgbClr val="F8FAFC"/>
                </a:solidFill>
                <a:latin typeface="Segoe UI" pitchFamily="34" charset="0"/>
                <a:ea typeface="Segoe UI" pitchFamily="34" charset="-122"/>
                <a:cs typeface="Segoe UI" pitchFamily="34" charset="-120"/>
              </a:rPr>
              <a:t>Runtime Dependencies</a:t>
            </a:r>
            <a:endParaRPr lang="en-US" sz="1000" dirty="0"/>
          </a:p>
        </p:txBody>
      </p:sp>
      <p:sp>
        <p:nvSpPr>
          <p:cNvPr id="28" name="Text 25"/>
          <p:cNvSpPr/>
          <p:nvPr/>
        </p:nvSpPr>
        <p:spPr>
          <a:xfrm>
            <a:off x="9082735" y="4142232"/>
            <a:ext cx="1965960" cy="32004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Zero external packages required to run the web dashboard</a:t>
            </a:r>
            <a:endParaRPr lang="en-US" sz="850" dirty="0"/>
          </a:p>
        </p:txBody>
      </p:sp>
      <p:sp>
        <p:nvSpPr>
          <p:cNvPr id="29" name="Shape 26"/>
          <p:cNvSpPr/>
          <p:nvPr/>
        </p:nvSpPr>
        <p:spPr>
          <a:xfrm>
            <a:off x="6522415" y="4800600"/>
            <a:ext cx="4663440" cy="1005840"/>
          </a:xfrm>
          <a:prstGeom prst="roundRect">
            <a:avLst>
              <a:gd name="adj" fmla="val 10909"/>
            </a:avLst>
          </a:prstGeom>
          <a:solidFill>
            <a:srgbClr val="162032"/>
          </a:solidFill>
          <a:ln w="12700">
            <a:solidFill>
              <a:srgbClr val="818CF8"/>
            </a:solidFill>
            <a:prstDash val="solid"/>
          </a:ln>
        </p:spPr>
      </p:sp>
      <p:sp>
        <p:nvSpPr>
          <p:cNvPr id="30" name="Text 27"/>
          <p:cNvSpPr/>
          <p:nvPr/>
        </p:nvSpPr>
        <p:spPr>
          <a:xfrm>
            <a:off x="6659575" y="4892040"/>
            <a:ext cx="4389120" cy="201168"/>
          </a:xfrm>
          <a:prstGeom prst="rect">
            <a:avLst/>
          </a:prstGeom>
          <a:noFill/>
          <a:ln/>
        </p:spPr>
        <p:txBody>
          <a:bodyPr wrap="square" rtlCol="0" anchor="ctr"/>
          <a:lstStyle/>
          <a:p>
            <a:pPr indent="0" marL="0">
              <a:buNone/>
            </a:pPr>
            <a:r>
              <a:rPr lang="en-US" sz="850" b="1" dirty="0">
                <a:solidFill>
                  <a:srgbClr val="818CF8"/>
                </a:solidFill>
                <a:latin typeface="Segoe UI" pitchFamily="34" charset="0"/>
                <a:ea typeface="Segoe UI" pitchFamily="34" charset="-122"/>
                <a:cs typeface="Segoe UI" pitchFamily="34" charset="-120"/>
              </a:rPr>
              <a:t>BUSINESS &amp; ENGINEERING VALUE</a:t>
            </a:r>
            <a:endParaRPr lang="en-US" sz="850" dirty="0"/>
          </a:p>
        </p:txBody>
      </p:sp>
      <p:sp>
        <p:nvSpPr>
          <p:cNvPr id="31" name="Text 28"/>
          <p:cNvSpPr/>
          <p:nvPr/>
        </p:nvSpPr>
        <p:spPr>
          <a:xfrm>
            <a:off x="6659575" y="5120640"/>
            <a:ext cx="4389120" cy="59436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Transforms scheduling from a passive planning tool into an active risk management system. Teams know exactly which resource window requires standby redundancy before an incident occurs.</a:t>
            </a:r>
            <a:endParaRPr lang="en-US" sz="950" dirty="0"/>
          </a:p>
        </p:txBody>
      </p:sp>
      <p:sp>
        <p:nvSpPr>
          <p:cNvPr id="32" name="Shape 29"/>
          <p:cNvSpPr/>
          <p:nvPr/>
        </p:nvSpPr>
        <p:spPr>
          <a:xfrm>
            <a:off x="731520" y="6355080"/>
            <a:ext cx="10728655" cy="0"/>
          </a:xfrm>
          <a:prstGeom prst="line">
            <a:avLst/>
          </a:prstGeom>
          <a:noFill/>
          <a:ln w="9525">
            <a:solidFill>
              <a:srgbClr val="334155"/>
            </a:solidFill>
            <a:prstDash val="solid"/>
          </a:ln>
        </p:spPr>
      </p:sp>
      <p:sp>
        <p:nvSpPr>
          <p:cNvPr id="33" name="Text 30"/>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34" name="Text 31"/>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10 of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10 / LIVE DEMO &amp; ACCESS</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Live Demo Access &amp; Execution Guide</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Deploy or run the Deadline Scheduler platform locally or directly on the web.</a:t>
            </a:r>
            <a:endParaRPr lang="en-US" sz="1200" dirty="0"/>
          </a:p>
        </p:txBody>
      </p:sp>
      <p:sp>
        <p:nvSpPr>
          <p:cNvPr id="5" name="Shape 3"/>
          <p:cNvSpPr/>
          <p:nvPr/>
        </p:nvSpPr>
        <p:spPr>
          <a:xfrm>
            <a:off x="731520" y="1554480"/>
            <a:ext cx="3413455" cy="4389120"/>
          </a:xfrm>
          <a:prstGeom prst="roundRect">
            <a:avLst>
              <a:gd name="adj" fmla="val 3215"/>
            </a:avLst>
          </a:prstGeom>
          <a:solidFill>
            <a:srgbClr val="1E293B"/>
          </a:solidFill>
          <a:ln w="12700">
            <a:solidFill>
              <a:srgbClr val="334155"/>
            </a:solidFill>
            <a:prstDash val="solid"/>
          </a:ln>
        </p:spPr>
      </p:sp>
      <p:sp>
        <p:nvSpPr>
          <p:cNvPr id="6" name="Text 4"/>
          <p:cNvSpPr/>
          <p:nvPr/>
        </p:nvSpPr>
        <p:spPr>
          <a:xfrm>
            <a:off x="960120" y="1737360"/>
            <a:ext cx="2956255" cy="201168"/>
          </a:xfrm>
          <a:prstGeom prst="rect">
            <a:avLst/>
          </a:prstGeom>
          <a:noFill/>
          <a:ln/>
        </p:spPr>
        <p:txBody>
          <a:bodyPr wrap="square" rtlCol="0" anchor="ctr"/>
          <a:lstStyle/>
          <a:p>
            <a:pPr indent="0" marL="0">
              <a:buNone/>
            </a:pPr>
            <a:r>
              <a:rPr lang="en-US" sz="850" b="1" dirty="0">
                <a:solidFill>
                  <a:srgbClr val="38BDF8"/>
                </a:solidFill>
                <a:latin typeface="Segoe UI" pitchFamily="34" charset="0"/>
                <a:ea typeface="Segoe UI" pitchFamily="34" charset="-122"/>
                <a:cs typeface="Segoe UI" pitchFamily="34" charset="-120"/>
              </a:rPr>
              <a:t>INSTANT WEB ACCESS</a:t>
            </a:r>
            <a:endParaRPr lang="en-US" sz="850" dirty="0"/>
          </a:p>
        </p:txBody>
      </p:sp>
      <p:sp>
        <p:nvSpPr>
          <p:cNvPr id="7" name="Text 5"/>
          <p:cNvSpPr/>
          <p:nvPr/>
        </p:nvSpPr>
        <p:spPr>
          <a:xfrm>
            <a:off x="960120" y="1965960"/>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1. Hosted Cloud Demo</a:t>
            </a:r>
            <a:endParaRPr lang="en-US" sz="1400" dirty="0"/>
          </a:p>
        </p:txBody>
      </p:sp>
      <p:sp>
        <p:nvSpPr>
          <p:cNvPr id="8" name="Shape 6"/>
          <p:cNvSpPr/>
          <p:nvPr/>
        </p:nvSpPr>
        <p:spPr>
          <a:xfrm>
            <a:off x="960120" y="2560320"/>
            <a:ext cx="73152" cy="73152"/>
          </a:xfrm>
          <a:prstGeom prst="ellipse">
            <a:avLst/>
          </a:prstGeom>
          <a:solidFill>
            <a:srgbClr val="38BDF8"/>
          </a:solidFill>
          <a:ln w="12700">
            <a:solidFill>
              <a:srgbClr val="38BDF8"/>
            </a:solidFill>
            <a:prstDash val="solid"/>
          </a:ln>
        </p:spPr>
      </p:sp>
      <p:sp>
        <p:nvSpPr>
          <p:cNvPr id="9" name="Text 7"/>
          <p:cNvSpPr/>
          <p:nvPr/>
        </p:nvSpPr>
        <p:spPr>
          <a:xfrm>
            <a:off x="1143000" y="2450592"/>
            <a:ext cx="2773375" cy="749808"/>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Public Web URL: Available 24/7 on GitHub Pages / Vercel static hosting.</a:t>
            </a:r>
            <a:endParaRPr lang="en-US" sz="1000" dirty="0"/>
          </a:p>
        </p:txBody>
      </p:sp>
      <p:sp>
        <p:nvSpPr>
          <p:cNvPr id="10" name="Shape 8"/>
          <p:cNvSpPr/>
          <p:nvPr/>
        </p:nvSpPr>
        <p:spPr>
          <a:xfrm>
            <a:off x="960120" y="3383280"/>
            <a:ext cx="73152" cy="73152"/>
          </a:xfrm>
          <a:prstGeom prst="ellipse">
            <a:avLst/>
          </a:prstGeom>
          <a:solidFill>
            <a:srgbClr val="38BDF8"/>
          </a:solidFill>
          <a:ln w="12700">
            <a:solidFill>
              <a:srgbClr val="38BDF8"/>
            </a:solidFill>
            <a:prstDash val="solid"/>
          </a:ln>
        </p:spPr>
      </p:sp>
      <p:sp>
        <p:nvSpPr>
          <p:cNvPr id="11" name="Text 9"/>
          <p:cNvSpPr/>
          <p:nvPr/>
        </p:nvSpPr>
        <p:spPr>
          <a:xfrm>
            <a:off x="1143000" y="327355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URL: https://vennuprajwal.github.io/Deadline-Scheduler/</a:t>
            </a:r>
            <a:endParaRPr lang="en-US" sz="950" dirty="0"/>
          </a:p>
        </p:txBody>
      </p:sp>
      <p:sp>
        <p:nvSpPr>
          <p:cNvPr id="12" name="Shape 10"/>
          <p:cNvSpPr/>
          <p:nvPr/>
        </p:nvSpPr>
        <p:spPr>
          <a:xfrm>
            <a:off x="960120" y="4206240"/>
            <a:ext cx="73152" cy="73152"/>
          </a:xfrm>
          <a:prstGeom prst="ellipse">
            <a:avLst/>
          </a:prstGeom>
          <a:solidFill>
            <a:srgbClr val="38BDF8"/>
          </a:solidFill>
          <a:ln w="12700">
            <a:solidFill>
              <a:srgbClr val="38BDF8"/>
            </a:solidFill>
            <a:prstDash val="solid"/>
          </a:ln>
        </p:spPr>
      </p:sp>
      <p:sp>
        <p:nvSpPr>
          <p:cNvPr id="13" name="Text 11"/>
          <p:cNvSpPr/>
          <p:nvPr/>
        </p:nvSpPr>
        <p:spPr>
          <a:xfrm>
            <a:off x="1143000" y="4096512"/>
            <a:ext cx="2773375" cy="749808"/>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No installation or setup required. Zero cookies, zero tracking.</a:t>
            </a:r>
            <a:endParaRPr lang="en-US" sz="1000" dirty="0"/>
          </a:p>
        </p:txBody>
      </p:sp>
      <p:sp>
        <p:nvSpPr>
          <p:cNvPr id="14" name="Shape 12"/>
          <p:cNvSpPr/>
          <p:nvPr/>
        </p:nvSpPr>
        <p:spPr>
          <a:xfrm>
            <a:off x="960120" y="5029200"/>
            <a:ext cx="73152" cy="73152"/>
          </a:xfrm>
          <a:prstGeom prst="ellipse">
            <a:avLst/>
          </a:prstGeom>
          <a:solidFill>
            <a:srgbClr val="38BDF8"/>
          </a:solidFill>
          <a:ln w="12700">
            <a:solidFill>
              <a:srgbClr val="38BDF8"/>
            </a:solidFill>
            <a:prstDash val="solid"/>
          </a:ln>
        </p:spPr>
      </p:sp>
      <p:sp>
        <p:nvSpPr>
          <p:cNvPr id="15" name="Text 13"/>
          <p:cNvSpPr/>
          <p:nvPr/>
        </p:nvSpPr>
        <p:spPr>
          <a:xfrm>
            <a:off x="1143000" y="4919472"/>
            <a:ext cx="2773375" cy="749808"/>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Full desktop, tablet, and mobile responsive layout support.</a:t>
            </a:r>
            <a:endParaRPr lang="en-US" sz="1000" dirty="0"/>
          </a:p>
        </p:txBody>
      </p:sp>
      <p:sp>
        <p:nvSpPr>
          <p:cNvPr id="16" name="Shape 14"/>
          <p:cNvSpPr/>
          <p:nvPr/>
        </p:nvSpPr>
        <p:spPr>
          <a:xfrm>
            <a:off x="4389120" y="1554480"/>
            <a:ext cx="3413455" cy="4389120"/>
          </a:xfrm>
          <a:prstGeom prst="roundRect">
            <a:avLst>
              <a:gd name="adj" fmla="val 3215"/>
            </a:avLst>
          </a:prstGeom>
          <a:solidFill>
            <a:srgbClr val="1E293B"/>
          </a:solidFill>
          <a:ln w="12700">
            <a:solidFill>
              <a:srgbClr val="334155"/>
            </a:solidFill>
            <a:prstDash val="solid"/>
          </a:ln>
        </p:spPr>
      </p:sp>
      <p:sp>
        <p:nvSpPr>
          <p:cNvPr id="17" name="Text 15"/>
          <p:cNvSpPr/>
          <p:nvPr/>
        </p:nvSpPr>
        <p:spPr>
          <a:xfrm>
            <a:off x="4617720" y="1737360"/>
            <a:ext cx="2956255" cy="201168"/>
          </a:xfrm>
          <a:prstGeom prst="rect">
            <a:avLst/>
          </a:prstGeom>
          <a:noFill/>
          <a:ln/>
        </p:spPr>
        <p:txBody>
          <a:bodyPr wrap="square" rtlCol="0" anchor="ctr"/>
          <a:lstStyle/>
          <a:p>
            <a:pPr indent="0" marL="0">
              <a:buNone/>
            </a:pPr>
            <a:r>
              <a:rPr lang="en-US" sz="850" b="1" dirty="0">
                <a:solidFill>
                  <a:srgbClr val="10B981"/>
                </a:solidFill>
                <a:latin typeface="Segoe UI" pitchFamily="34" charset="0"/>
                <a:ea typeface="Segoe UI" pitchFamily="34" charset="-122"/>
                <a:cs typeface="Segoe UI" pitchFamily="34" charset="-120"/>
              </a:rPr>
              <a:t>OFFLINE / LOCAL SERVER</a:t>
            </a:r>
            <a:endParaRPr lang="en-US" sz="850" dirty="0"/>
          </a:p>
        </p:txBody>
      </p:sp>
      <p:sp>
        <p:nvSpPr>
          <p:cNvPr id="18" name="Text 16"/>
          <p:cNvSpPr/>
          <p:nvPr/>
        </p:nvSpPr>
        <p:spPr>
          <a:xfrm>
            <a:off x="4617720" y="1965960"/>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2. Local Web Dashboard</a:t>
            </a:r>
            <a:endParaRPr lang="en-US" sz="1400" dirty="0"/>
          </a:p>
        </p:txBody>
      </p:sp>
      <p:sp>
        <p:nvSpPr>
          <p:cNvPr id="19" name="Shape 17"/>
          <p:cNvSpPr/>
          <p:nvPr/>
        </p:nvSpPr>
        <p:spPr>
          <a:xfrm>
            <a:off x="4617720" y="2560320"/>
            <a:ext cx="73152" cy="73152"/>
          </a:xfrm>
          <a:prstGeom prst="ellipse">
            <a:avLst/>
          </a:prstGeom>
          <a:solidFill>
            <a:srgbClr val="10B981"/>
          </a:solidFill>
          <a:ln w="12700">
            <a:solidFill>
              <a:srgbClr val="10B981"/>
            </a:solidFill>
            <a:prstDash val="solid"/>
          </a:ln>
        </p:spPr>
      </p:sp>
      <p:sp>
        <p:nvSpPr>
          <p:cNvPr id="20" name="Text 18"/>
          <p:cNvSpPr/>
          <p:nvPr/>
        </p:nvSpPr>
        <p:spPr>
          <a:xfrm>
            <a:off x="4800600" y="2450592"/>
            <a:ext cx="2773375" cy="749808"/>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Clone the repository and start an instant local web server:</a:t>
            </a:r>
            <a:endParaRPr lang="en-US" sz="1000" dirty="0"/>
          </a:p>
        </p:txBody>
      </p:sp>
      <p:sp>
        <p:nvSpPr>
          <p:cNvPr id="21" name="Shape 19"/>
          <p:cNvSpPr/>
          <p:nvPr/>
        </p:nvSpPr>
        <p:spPr>
          <a:xfrm>
            <a:off x="4617720" y="3383280"/>
            <a:ext cx="73152" cy="73152"/>
          </a:xfrm>
          <a:prstGeom prst="ellipse">
            <a:avLst/>
          </a:prstGeom>
          <a:solidFill>
            <a:srgbClr val="10B981"/>
          </a:solidFill>
          <a:ln w="12700">
            <a:solidFill>
              <a:srgbClr val="10B981"/>
            </a:solidFill>
            <a:prstDash val="solid"/>
          </a:ln>
        </p:spPr>
      </p:sp>
      <p:sp>
        <p:nvSpPr>
          <p:cNvPr id="22" name="Text 20"/>
          <p:cNvSpPr/>
          <p:nvPr/>
        </p:nvSpPr>
        <p:spPr>
          <a:xfrm>
            <a:off x="4800600" y="327355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git clone https://github.com/vennuprajwal/Deadline-Scheduler.git</a:t>
            </a:r>
            <a:endParaRPr lang="en-US" sz="950" dirty="0"/>
          </a:p>
        </p:txBody>
      </p:sp>
      <p:sp>
        <p:nvSpPr>
          <p:cNvPr id="23" name="Shape 21"/>
          <p:cNvSpPr/>
          <p:nvPr/>
        </p:nvSpPr>
        <p:spPr>
          <a:xfrm>
            <a:off x="4617720" y="4206240"/>
            <a:ext cx="73152" cy="73152"/>
          </a:xfrm>
          <a:prstGeom prst="ellipse">
            <a:avLst/>
          </a:prstGeom>
          <a:solidFill>
            <a:srgbClr val="10B981"/>
          </a:solidFill>
          <a:ln w="12700">
            <a:solidFill>
              <a:srgbClr val="10B981"/>
            </a:solidFill>
            <a:prstDash val="solid"/>
          </a:ln>
        </p:spPr>
      </p:sp>
      <p:sp>
        <p:nvSpPr>
          <p:cNvPr id="24" name="Text 22"/>
          <p:cNvSpPr/>
          <p:nvPr/>
        </p:nvSpPr>
        <p:spPr>
          <a:xfrm>
            <a:off x="4800600" y="409651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python -m http.server 8080</a:t>
            </a:r>
            <a:endParaRPr lang="en-US" sz="950" dirty="0"/>
          </a:p>
        </p:txBody>
      </p:sp>
      <p:sp>
        <p:nvSpPr>
          <p:cNvPr id="25" name="Shape 23"/>
          <p:cNvSpPr/>
          <p:nvPr/>
        </p:nvSpPr>
        <p:spPr>
          <a:xfrm>
            <a:off x="4617720" y="5029200"/>
            <a:ext cx="73152" cy="73152"/>
          </a:xfrm>
          <a:prstGeom prst="ellipse">
            <a:avLst/>
          </a:prstGeom>
          <a:solidFill>
            <a:srgbClr val="10B981"/>
          </a:solidFill>
          <a:ln w="12700">
            <a:solidFill>
              <a:srgbClr val="10B981"/>
            </a:solidFill>
            <a:prstDash val="solid"/>
          </a:ln>
        </p:spPr>
      </p:sp>
      <p:sp>
        <p:nvSpPr>
          <p:cNvPr id="26" name="Text 24"/>
          <p:cNvSpPr/>
          <p:nvPr/>
        </p:nvSpPr>
        <p:spPr>
          <a:xfrm>
            <a:off x="4800600" y="491947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Open http://localhost:8080 or launch dashboard.html directly.</a:t>
            </a:r>
            <a:endParaRPr lang="en-US" sz="950" dirty="0"/>
          </a:p>
        </p:txBody>
      </p:sp>
      <p:sp>
        <p:nvSpPr>
          <p:cNvPr id="27" name="Shape 25"/>
          <p:cNvSpPr/>
          <p:nvPr/>
        </p:nvSpPr>
        <p:spPr>
          <a:xfrm>
            <a:off x="8046720" y="1554480"/>
            <a:ext cx="3413455" cy="4389120"/>
          </a:xfrm>
          <a:prstGeom prst="roundRect">
            <a:avLst>
              <a:gd name="adj" fmla="val 3215"/>
            </a:avLst>
          </a:prstGeom>
          <a:solidFill>
            <a:srgbClr val="1E293B"/>
          </a:solidFill>
          <a:ln w="12700">
            <a:solidFill>
              <a:srgbClr val="334155"/>
            </a:solidFill>
            <a:prstDash val="solid"/>
          </a:ln>
        </p:spPr>
      </p:sp>
      <p:sp>
        <p:nvSpPr>
          <p:cNvPr id="28" name="Text 26"/>
          <p:cNvSpPr/>
          <p:nvPr/>
        </p:nvSpPr>
        <p:spPr>
          <a:xfrm>
            <a:off x="8275320" y="1737360"/>
            <a:ext cx="2956255" cy="201168"/>
          </a:xfrm>
          <a:prstGeom prst="rect">
            <a:avLst/>
          </a:prstGeom>
          <a:noFill/>
          <a:ln/>
        </p:spPr>
        <p:txBody>
          <a:bodyPr wrap="square" rtlCol="0" anchor="ctr"/>
          <a:lstStyle/>
          <a:p>
            <a:pPr indent="0" marL="0">
              <a:buNone/>
            </a:pPr>
            <a:r>
              <a:rPr lang="en-US" sz="850" b="1" dirty="0">
                <a:solidFill>
                  <a:srgbClr val="F59E0B"/>
                </a:solidFill>
                <a:latin typeface="Segoe UI" pitchFamily="34" charset="0"/>
                <a:ea typeface="Segoe UI" pitchFamily="34" charset="-122"/>
                <a:cs typeface="Segoe UI" pitchFamily="34" charset="-120"/>
              </a:rPr>
              <a:t>CLI AUTOMATION &amp; GRADING</a:t>
            </a:r>
            <a:endParaRPr lang="en-US" sz="850" dirty="0"/>
          </a:p>
        </p:txBody>
      </p:sp>
      <p:sp>
        <p:nvSpPr>
          <p:cNvPr id="29" name="Text 27"/>
          <p:cNvSpPr/>
          <p:nvPr/>
        </p:nvSpPr>
        <p:spPr>
          <a:xfrm>
            <a:off x="8275320" y="1965960"/>
            <a:ext cx="2956255" cy="365760"/>
          </a:xfrm>
          <a:prstGeom prst="rect">
            <a:avLst/>
          </a:prstGeom>
          <a:noFill/>
          <a:ln/>
        </p:spPr>
        <p:txBody>
          <a:bodyPr wrap="square" rtlCol="0" anchor="ctr"/>
          <a:lstStyle/>
          <a:p>
            <a:pPr indent="0" marL="0">
              <a:buNone/>
            </a:pPr>
            <a:r>
              <a:rPr lang="en-US" sz="1400" b="1" dirty="0">
                <a:solidFill>
                  <a:srgbClr val="F8FAFC"/>
                </a:solidFill>
                <a:latin typeface="Segoe UI" pitchFamily="34" charset="0"/>
                <a:ea typeface="Segoe UI" pitchFamily="34" charset="-122"/>
                <a:cs typeface="Segoe UI" pitchFamily="34" charset="-120"/>
              </a:rPr>
              <a:t>3. Command-Line Reference</a:t>
            </a:r>
            <a:endParaRPr lang="en-US" sz="1400" dirty="0"/>
          </a:p>
        </p:txBody>
      </p:sp>
      <p:sp>
        <p:nvSpPr>
          <p:cNvPr id="30" name="Shape 28"/>
          <p:cNvSpPr/>
          <p:nvPr/>
        </p:nvSpPr>
        <p:spPr>
          <a:xfrm>
            <a:off x="8275320" y="2560320"/>
            <a:ext cx="73152" cy="73152"/>
          </a:xfrm>
          <a:prstGeom prst="ellipse">
            <a:avLst/>
          </a:prstGeom>
          <a:solidFill>
            <a:srgbClr val="F59E0B"/>
          </a:solidFill>
          <a:ln w="12700">
            <a:solidFill>
              <a:srgbClr val="F59E0B"/>
            </a:solidFill>
            <a:prstDash val="solid"/>
          </a:ln>
        </p:spPr>
      </p:sp>
      <p:sp>
        <p:nvSpPr>
          <p:cNvPr id="31" name="Text 29"/>
          <p:cNvSpPr/>
          <p:nvPr/>
        </p:nvSpPr>
        <p:spPr>
          <a:xfrm>
            <a:off x="8458200" y="2450592"/>
            <a:ext cx="2773375" cy="749808"/>
          </a:xfrm>
          <a:prstGeom prst="rect">
            <a:avLst/>
          </a:prstGeom>
          <a:noFill/>
          <a:ln/>
        </p:spPr>
        <p:txBody>
          <a:bodyPr wrap="square" rtlCol="0" anchor="ctr"/>
          <a:lstStyle/>
          <a:p>
            <a:pPr indent="0" marL="0">
              <a:buNone/>
            </a:pPr>
            <a:r>
              <a:rPr lang="en-US" sz="1000" dirty="0">
                <a:solidFill>
                  <a:srgbClr val="94A3B8"/>
                </a:solidFill>
                <a:latin typeface="Segoe UI" pitchFamily="34" charset="0"/>
                <a:ea typeface="Segoe UI" pitchFamily="34" charset="-122"/>
                <a:cs typeface="Segoe UI" pitchFamily="34" charset="-120"/>
              </a:rPr>
              <a:t>Run the Python reference implementation via standard streams:</a:t>
            </a:r>
            <a:endParaRPr lang="en-US" sz="1000" dirty="0"/>
          </a:p>
        </p:txBody>
      </p:sp>
      <p:sp>
        <p:nvSpPr>
          <p:cNvPr id="32" name="Shape 30"/>
          <p:cNvSpPr/>
          <p:nvPr/>
        </p:nvSpPr>
        <p:spPr>
          <a:xfrm>
            <a:off x="8275320" y="3383280"/>
            <a:ext cx="73152" cy="73152"/>
          </a:xfrm>
          <a:prstGeom prst="ellipse">
            <a:avLst/>
          </a:prstGeom>
          <a:solidFill>
            <a:srgbClr val="F59E0B"/>
          </a:solidFill>
          <a:ln w="12700">
            <a:solidFill>
              <a:srgbClr val="F59E0B"/>
            </a:solidFill>
            <a:prstDash val="solid"/>
          </a:ln>
        </p:spPr>
      </p:sp>
      <p:sp>
        <p:nvSpPr>
          <p:cNvPr id="33" name="Text 31"/>
          <p:cNvSpPr/>
          <p:nvPr/>
        </p:nvSpPr>
        <p:spPr>
          <a:xfrm>
            <a:off x="8458200" y="327355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python deadline_scheduler.py &lt; input.txt</a:t>
            </a:r>
            <a:endParaRPr lang="en-US" sz="950" dirty="0"/>
          </a:p>
        </p:txBody>
      </p:sp>
      <p:sp>
        <p:nvSpPr>
          <p:cNvPr id="34" name="Shape 32"/>
          <p:cNvSpPr/>
          <p:nvPr/>
        </p:nvSpPr>
        <p:spPr>
          <a:xfrm>
            <a:off x="8275320" y="4206240"/>
            <a:ext cx="73152" cy="73152"/>
          </a:xfrm>
          <a:prstGeom prst="ellipse">
            <a:avLst/>
          </a:prstGeom>
          <a:solidFill>
            <a:srgbClr val="F59E0B"/>
          </a:solidFill>
          <a:ln w="12700">
            <a:solidFill>
              <a:srgbClr val="F59E0B"/>
            </a:solidFill>
            <a:prstDash val="solid"/>
          </a:ln>
        </p:spPr>
      </p:sp>
      <p:sp>
        <p:nvSpPr>
          <p:cNvPr id="35" name="Text 33"/>
          <p:cNvSpPr/>
          <p:nvPr/>
        </p:nvSpPr>
        <p:spPr>
          <a:xfrm>
            <a:off x="8458200" y="409651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Windows PowerShell: Get-Content input.txt | python deadline_scheduler.py</a:t>
            </a:r>
            <a:endParaRPr lang="en-US" sz="950" dirty="0"/>
          </a:p>
        </p:txBody>
      </p:sp>
      <p:sp>
        <p:nvSpPr>
          <p:cNvPr id="36" name="Shape 34"/>
          <p:cNvSpPr/>
          <p:nvPr/>
        </p:nvSpPr>
        <p:spPr>
          <a:xfrm>
            <a:off x="8275320" y="5029200"/>
            <a:ext cx="73152" cy="73152"/>
          </a:xfrm>
          <a:prstGeom prst="ellipse">
            <a:avLst/>
          </a:prstGeom>
          <a:solidFill>
            <a:srgbClr val="F59E0B"/>
          </a:solidFill>
          <a:ln w="12700">
            <a:solidFill>
              <a:srgbClr val="F59E0B"/>
            </a:solidFill>
            <a:prstDash val="solid"/>
          </a:ln>
        </p:spPr>
      </p:sp>
      <p:sp>
        <p:nvSpPr>
          <p:cNvPr id="37" name="Text 35"/>
          <p:cNvSpPr/>
          <p:nvPr/>
        </p:nvSpPr>
        <p:spPr>
          <a:xfrm>
            <a:off x="8458200" y="4919472"/>
            <a:ext cx="2773375" cy="749808"/>
          </a:xfrm>
          <a:prstGeom prst="rect">
            <a:avLst/>
          </a:prstGeom>
          <a:noFill/>
          <a:ln/>
        </p:spPr>
        <p:txBody>
          <a:bodyPr wrap="square" rtlCol="0" anchor="ctr"/>
          <a:lstStyle/>
          <a:p>
            <a:pPr indent="0" marL="0">
              <a:buNone/>
            </a:pPr>
            <a:r>
              <a:rPr lang="en-US" sz="950" dirty="0">
                <a:solidFill>
                  <a:srgbClr val="38BDF8"/>
                </a:solidFill>
                <a:latin typeface="JetBrains Mono, Consolas, Courier New" pitchFamily="34" charset="0"/>
                <a:ea typeface="JetBrains Mono, Consolas, Courier New" pitchFamily="34" charset="-122"/>
                <a:cs typeface="JetBrains Mono, Consolas, Courier New" pitchFamily="34" charset="-120"/>
              </a:rPr>
              <a:t>Runs all tests: npm test  or  python test_scheduler.py</a:t>
            </a:r>
            <a:endParaRPr lang="en-US" sz="950" dirty="0"/>
          </a:p>
        </p:txBody>
      </p:sp>
      <p:sp>
        <p:nvSpPr>
          <p:cNvPr id="38" name="Shape 36"/>
          <p:cNvSpPr/>
          <p:nvPr/>
        </p:nvSpPr>
        <p:spPr>
          <a:xfrm>
            <a:off x="731520" y="6355080"/>
            <a:ext cx="10728655" cy="0"/>
          </a:xfrm>
          <a:prstGeom prst="line">
            <a:avLst/>
          </a:prstGeom>
          <a:noFill/>
          <a:ln w="9525">
            <a:solidFill>
              <a:srgbClr val="334155"/>
            </a:solidFill>
            <a:prstDash val="solid"/>
          </a:ln>
        </p:spPr>
      </p:sp>
      <p:sp>
        <p:nvSpPr>
          <p:cNvPr id="39" name="Text 37"/>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40" name="Text 38"/>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11 of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731520" y="365760"/>
            <a:ext cx="10515600" cy="256032"/>
          </a:xfrm>
          <a:prstGeom prst="rect">
            <a:avLst/>
          </a:prstGeom>
          <a:noFill/>
          <a:ln/>
        </p:spPr>
        <p:txBody>
          <a:bodyPr wrap="square" rtlCol="0" anchor="ctr"/>
          <a:lstStyle/>
          <a:p>
            <a:pPr indent="0" marL="0">
              <a:buNone/>
            </a:pPr>
            <a:r>
              <a:rPr lang="en-US" sz="1000" b="1" dirty="0">
                <a:solidFill>
                  <a:srgbClr val="38BDF8"/>
                </a:solidFill>
                <a:latin typeface="Segoe UI" pitchFamily="34" charset="0"/>
                <a:ea typeface="Segoe UI" pitchFamily="34" charset="-122"/>
                <a:cs typeface="Segoe UI" pitchFamily="34" charset="-120"/>
              </a:rPr>
              <a:t>11 / SOURCE &amp; ROADMAP</a:t>
            </a:r>
            <a:endParaRPr lang="en-US" sz="1000" dirty="0"/>
          </a:p>
        </p:txBody>
      </p:sp>
      <p:sp>
        <p:nvSpPr>
          <p:cNvPr id="3" name="Text 1"/>
          <p:cNvSpPr/>
          <p:nvPr/>
        </p:nvSpPr>
        <p:spPr>
          <a:xfrm>
            <a:off x="731520" y="621792"/>
            <a:ext cx="10698480" cy="50292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Source Code, Documentation &amp; Future Work</a:t>
            </a:r>
            <a:endParaRPr lang="en-US" sz="2200" dirty="0"/>
          </a:p>
        </p:txBody>
      </p:sp>
      <p:sp>
        <p:nvSpPr>
          <p:cNvPr id="4" name="Text 2"/>
          <p:cNvSpPr/>
          <p:nvPr/>
        </p:nvSpPr>
        <p:spPr>
          <a:xfrm>
            <a:off x="731520" y="1143000"/>
            <a:ext cx="10698480" cy="320040"/>
          </a:xfrm>
          <a:prstGeom prst="rect">
            <a:avLst/>
          </a:prstGeom>
          <a:noFill/>
          <a:ln/>
        </p:spPr>
        <p:txBody>
          <a:bodyPr wrap="square" rtlCol="0" anchor="ctr"/>
          <a:lstStyle/>
          <a:p>
            <a:pPr indent="0" marL="0">
              <a:buNone/>
            </a:pPr>
            <a:r>
              <a:rPr lang="en-US" sz="1200" dirty="0">
                <a:solidFill>
                  <a:srgbClr val="94A3B8"/>
                </a:solidFill>
                <a:latin typeface="Segoe UI" pitchFamily="34" charset="0"/>
                <a:ea typeface="Segoe UI" pitchFamily="34" charset="-122"/>
                <a:cs typeface="Segoe UI" pitchFamily="34" charset="-120"/>
              </a:rPr>
              <a:t>Open-source repository resources, formal documentation, and research extensions.</a:t>
            </a:r>
            <a:endParaRPr lang="en-US" sz="1200" dirty="0"/>
          </a:p>
        </p:txBody>
      </p:sp>
      <p:sp>
        <p:nvSpPr>
          <p:cNvPr id="5" name="Shape 3"/>
          <p:cNvSpPr/>
          <p:nvPr/>
        </p:nvSpPr>
        <p:spPr>
          <a:xfrm>
            <a:off x="731520" y="1554480"/>
            <a:ext cx="5212080" cy="4480560"/>
          </a:xfrm>
          <a:prstGeom prst="roundRect">
            <a:avLst>
              <a:gd name="adj" fmla="val 2449"/>
            </a:avLst>
          </a:prstGeom>
          <a:solidFill>
            <a:srgbClr val="1E293B"/>
          </a:solidFill>
          <a:ln w="12700">
            <a:solidFill>
              <a:srgbClr val="334155"/>
            </a:solidFill>
            <a:prstDash val="solid"/>
          </a:ln>
        </p:spPr>
      </p:sp>
      <p:sp>
        <p:nvSpPr>
          <p:cNvPr id="6" name="Text 4"/>
          <p:cNvSpPr/>
          <p:nvPr/>
        </p:nvSpPr>
        <p:spPr>
          <a:xfrm>
            <a:off x="1005840" y="1783080"/>
            <a:ext cx="4663440" cy="32004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Open Source Project Hub</a:t>
            </a:r>
            <a:endParaRPr lang="en-US" sz="1400" dirty="0"/>
          </a:p>
        </p:txBody>
      </p:sp>
      <p:sp>
        <p:nvSpPr>
          <p:cNvPr id="7" name="Text 5"/>
          <p:cNvSpPr/>
          <p:nvPr/>
        </p:nvSpPr>
        <p:spPr>
          <a:xfrm>
            <a:off x="1005840" y="2240280"/>
            <a:ext cx="4663440" cy="237744"/>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GitHub Repository</a:t>
            </a:r>
            <a:endParaRPr lang="en-US" sz="1100" dirty="0"/>
          </a:p>
        </p:txBody>
      </p:sp>
      <p:sp>
        <p:nvSpPr>
          <p:cNvPr id="8" name="Text 6"/>
          <p:cNvSpPr/>
          <p:nvPr/>
        </p:nvSpPr>
        <p:spPr>
          <a:xfrm>
            <a:off x="1005840" y="2496312"/>
            <a:ext cx="4663440" cy="256032"/>
          </a:xfrm>
          <a:prstGeom prst="rect">
            <a:avLst/>
          </a:prstGeom>
          <a:noFill/>
          <a:ln/>
        </p:spPr>
        <p:txBody>
          <a:bodyPr wrap="square" rtlCol="0" anchor="ctr"/>
          <a:lstStyle/>
          <a:p>
            <a:pPr indent="0" marL="0">
              <a:buNone/>
            </a:pPr>
            <a:r>
              <a:rPr lang="en-US" sz="950" b="1" dirty="0">
                <a:solidFill>
                  <a:srgbClr val="38BDF8"/>
                </a:solidFill>
                <a:latin typeface="JetBrains Mono, Consolas, Courier New" pitchFamily="34" charset="0"/>
                <a:ea typeface="JetBrains Mono, Consolas, Courier New" pitchFamily="34" charset="-122"/>
                <a:cs typeface="JetBrains Mono, Consolas, Courier New" pitchFamily="34" charset="-120"/>
              </a:rPr>
              <a:t>https://github.com/vennuprajwal/Deadline-Scheduler</a:t>
            </a:r>
            <a:endParaRPr lang="en-US" sz="950" dirty="0"/>
          </a:p>
        </p:txBody>
      </p:sp>
      <p:sp>
        <p:nvSpPr>
          <p:cNvPr id="9" name="Text 7"/>
          <p:cNvSpPr/>
          <p:nvPr/>
        </p:nvSpPr>
        <p:spPr>
          <a:xfrm>
            <a:off x="1005840" y="2770632"/>
            <a:ext cx="4663440" cy="59436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Complete source code, algorithm engines, interactive dashboard, and automated test runners.</a:t>
            </a:r>
            <a:endParaRPr lang="en-US" sz="950" dirty="0"/>
          </a:p>
        </p:txBody>
      </p:sp>
      <p:sp>
        <p:nvSpPr>
          <p:cNvPr id="10" name="Text 8"/>
          <p:cNvSpPr/>
          <p:nvPr/>
        </p:nvSpPr>
        <p:spPr>
          <a:xfrm>
            <a:off x="1005840" y="3447288"/>
            <a:ext cx="4663440" cy="237744"/>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Comprehensive Technical Documentation</a:t>
            </a:r>
            <a:endParaRPr lang="en-US" sz="1100" dirty="0"/>
          </a:p>
        </p:txBody>
      </p:sp>
      <p:sp>
        <p:nvSpPr>
          <p:cNvPr id="11" name="Text 9"/>
          <p:cNvSpPr/>
          <p:nvPr/>
        </p:nvSpPr>
        <p:spPr>
          <a:xfrm>
            <a:off x="1005840" y="3703320"/>
            <a:ext cx="4663440" cy="256032"/>
          </a:xfrm>
          <a:prstGeom prst="rect">
            <a:avLst/>
          </a:prstGeom>
          <a:noFill/>
          <a:ln/>
        </p:spPr>
        <p:txBody>
          <a:bodyPr wrap="square" rtlCol="0" anchor="ctr"/>
          <a:lstStyle/>
          <a:p>
            <a:pPr indent="0" marL="0">
              <a:buNone/>
            </a:pPr>
            <a:r>
              <a:rPr lang="en-US" sz="950" b="1" dirty="0">
                <a:solidFill>
                  <a:srgbClr val="38BDF8"/>
                </a:solidFill>
                <a:latin typeface="JetBrains Mono, Consolas, Courier New" pitchFamily="34" charset="0"/>
                <a:ea typeface="JetBrains Mono, Consolas, Courier New" pitchFamily="34" charset="-122"/>
                <a:cs typeface="JetBrains Mono, Consolas, Courier New" pitchFamily="34" charset="-120"/>
              </a:rPr>
              <a:t>code_doc.md / code_doc.pdf (in repository)</a:t>
            </a:r>
            <a:endParaRPr lang="en-US" sz="950" dirty="0"/>
          </a:p>
        </p:txBody>
      </p:sp>
      <p:sp>
        <p:nvSpPr>
          <p:cNvPr id="12" name="Text 10"/>
          <p:cNvSpPr/>
          <p:nvPr/>
        </p:nvSpPr>
        <p:spPr>
          <a:xfrm>
            <a:off x="1005840" y="3977640"/>
            <a:ext cx="4663440" cy="59436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In-depth problem analysis, mathematical proofs, worked examples, and edge-case catalogs.</a:t>
            </a:r>
            <a:endParaRPr lang="en-US" sz="950" dirty="0"/>
          </a:p>
        </p:txBody>
      </p:sp>
      <p:sp>
        <p:nvSpPr>
          <p:cNvPr id="13" name="Text 11"/>
          <p:cNvSpPr/>
          <p:nvPr/>
        </p:nvSpPr>
        <p:spPr>
          <a:xfrm>
            <a:off x="1005840" y="4654296"/>
            <a:ext cx="4663440" cy="237744"/>
          </a:xfrm>
          <a:prstGeom prst="rect">
            <a:avLst/>
          </a:prstGeom>
          <a:noFill/>
          <a:ln/>
        </p:spPr>
        <p:txBody>
          <a:bodyPr wrap="square" rtlCol="0" anchor="ctr"/>
          <a:lstStyle/>
          <a:p>
            <a:pPr indent="0" marL="0">
              <a:buNone/>
            </a:pPr>
            <a:r>
              <a:rPr lang="en-US" sz="1100" b="1" dirty="0">
                <a:solidFill>
                  <a:srgbClr val="F8FAFC"/>
                </a:solidFill>
                <a:latin typeface="Segoe UI" pitchFamily="34" charset="0"/>
                <a:ea typeface="Segoe UI" pitchFamily="34" charset="-122"/>
                <a:cs typeface="Segoe UI" pitchFamily="34" charset="-120"/>
              </a:rPr>
              <a:t>Live Interactive Dashboard</a:t>
            </a:r>
            <a:endParaRPr lang="en-US" sz="1100" dirty="0"/>
          </a:p>
        </p:txBody>
      </p:sp>
      <p:sp>
        <p:nvSpPr>
          <p:cNvPr id="14" name="Text 12"/>
          <p:cNvSpPr/>
          <p:nvPr/>
        </p:nvSpPr>
        <p:spPr>
          <a:xfrm>
            <a:off x="1005840" y="4910328"/>
            <a:ext cx="4663440" cy="256032"/>
          </a:xfrm>
          <a:prstGeom prst="rect">
            <a:avLst/>
          </a:prstGeom>
          <a:noFill/>
          <a:ln/>
        </p:spPr>
        <p:txBody>
          <a:bodyPr wrap="square" rtlCol="0" anchor="ctr"/>
          <a:lstStyle/>
          <a:p>
            <a:pPr indent="0" marL="0">
              <a:buNone/>
            </a:pPr>
            <a:r>
              <a:rPr lang="en-US" sz="950" b="1" dirty="0">
                <a:solidFill>
                  <a:srgbClr val="38BDF8"/>
                </a:solidFill>
                <a:latin typeface="JetBrains Mono, Consolas, Courier New" pitchFamily="34" charset="0"/>
                <a:ea typeface="JetBrains Mono, Consolas, Courier New" pitchFamily="34" charset="-122"/>
                <a:cs typeface="JetBrains Mono, Consolas, Courier New" pitchFamily="34" charset="-120"/>
              </a:rPr>
              <a:t>https://vennuprajwal.github.io/Deadline-Scheduler/</a:t>
            </a:r>
            <a:endParaRPr lang="en-US" sz="950" dirty="0"/>
          </a:p>
        </p:txBody>
      </p:sp>
      <p:sp>
        <p:nvSpPr>
          <p:cNvPr id="15" name="Text 13"/>
          <p:cNvSpPr/>
          <p:nvPr/>
        </p:nvSpPr>
        <p:spPr>
          <a:xfrm>
            <a:off x="1005840" y="5184648"/>
            <a:ext cx="4663440" cy="594360"/>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Hosted static progressive web app with zero dependencies and dark/light theming.</a:t>
            </a:r>
            <a:endParaRPr lang="en-US" sz="950" dirty="0"/>
          </a:p>
        </p:txBody>
      </p:sp>
      <p:sp>
        <p:nvSpPr>
          <p:cNvPr id="16" name="Shape 14"/>
          <p:cNvSpPr/>
          <p:nvPr/>
        </p:nvSpPr>
        <p:spPr>
          <a:xfrm>
            <a:off x="6248095" y="1554480"/>
            <a:ext cx="5212080" cy="4480560"/>
          </a:xfrm>
          <a:prstGeom prst="roundRect">
            <a:avLst>
              <a:gd name="adj" fmla="val 2449"/>
            </a:avLst>
          </a:prstGeom>
          <a:solidFill>
            <a:srgbClr val="1E293B"/>
          </a:solidFill>
          <a:ln w="12700">
            <a:solidFill>
              <a:srgbClr val="334155"/>
            </a:solidFill>
            <a:prstDash val="solid"/>
          </a:ln>
        </p:spPr>
      </p:sp>
      <p:sp>
        <p:nvSpPr>
          <p:cNvPr id="17" name="Text 15"/>
          <p:cNvSpPr/>
          <p:nvPr/>
        </p:nvSpPr>
        <p:spPr>
          <a:xfrm>
            <a:off x="6522415" y="1783080"/>
            <a:ext cx="4663440" cy="320040"/>
          </a:xfrm>
          <a:prstGeom prst="rect">
            <a:avLst/>
          </a:prstGeom>
          <a:noFill/>
          <a:ln/>
        </p:spPr>
        <p:txBody>
          <a:bodyPr wrap="square" rtlCol="0" anchor="ctr"/>
          <a:lstStyle/>
          <a:p>
            <a:pPr indent="0" marL="0">
              <a:buNone/>
            </a:pPr>
            <a:r>
              <a:rPr lang="en-US" sz="1400" b="1" dirty="0">
                <a:solidFill>
                  <a:srgbClr val="818CF8"/>
                </a:solidFill>
                <a:latin typeface="Segoe UI" pitchFamily="34" charset="0"/>
                <a:ea typeface="Segoe UI" pitchFamily="34" charset="-122"/>
                <a:cs typeface="Segoe UI" pitchFamily="34" charset="-120"/>
              </a:rPr>
              <a:t>Future Development Roadmap</a:t>
            </a:r>
            <a:endParaRPr lang="en-US" sz="1400" dirty="0"/>
          </a:p>
        </p:txBody>
      </p:sp>
      <p:sp>
        <p:nvSpPr>
          <p:cNvPr id="18" name="Text 16"/>
          <p:cNvSpPr/>
          <p:nvPr/>
        </p:nvSpPr>
        <p:spPr>
          <a:xfrm>
            <a:off x="6522415" y="2212848"/>
            <a:ext cx="4663440" cy="237744"/>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1. Multi-Processor / Multi-Machine Scheduling</a:t>
            </a:r>
            <a:endParaRPr lang="en-US" sz="1100" dirty="0"/>
          </a:p>
        </p:txBody>
      </p:sp>
      <p:sp>
        <p:nvSpPr>
          <p:cNvPr id="19" name="Text 17"/>
          <p:cNvSpPr/>
          <p:nvPr/>
        </p:nvSpPr>
        <p:spPr>
          <a:xfrm>
            <a:off x="6522415" y="2450592"/>
            <a:ext cx="4663440" cy="62179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Extend single-slot horizon H to m parallel processors, allowing up to m concurrent jobs per time slot with cross-machine rebalancing.</a:t>
            </a:r>
            <a:endParaRPr lang="en-US" sz="950" dirty="0"/>
          </a:p>
        </p:txBody>
      </p:sp>
      <p:sp>
        <p:nvSpPr>
          <p:cNvPr id="20" name="Text 18"/>
          <p:cNvSpPr/>
          <p:nvPr/>
        </p:nvSpPr>
        <p:spPr>
          <a:xfrm>
            <a:off x="6522415" y="3127248"/>
            <a:ext cx="4663440" cy="237744"/>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2. Online Streaming Job Arrivals</a:t>
            </a:r>
            <a:endParaRPr lang="en-US" sz="1100" dirty="0"/>
          </a:p>
        </p:txBody>
      </p:sp>
      <p:sp>
        <p:nvSpPr>
          <p:cNvPr id="21" name="Text 19"/>
          <p:cNvSpPr/>
          <p:nvPr/>
        </p:nvSpPr>
        <p:spPr>
          <a:xfrm>
            <a:off x="6522415" y="3364992"/>
            <a:ext cx="4663440" cy="62179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Transition from static offline batch scheduling to online competitive algorithms handling real-time job arrival distributions.</a:t>
            </a:r>
            <a:endParaRPr lang="en-US" sz="950" dirty="0"/>
          </a:p>
        </p:txBody>
      </p:sp>
      <p:sp>
        <p:nvSpPr>
          <p:cNvPr id="22" name="Text 20"/>
          <p:cNvSpPr/>
          <p:nvPr/>
        </p:nvSpPr>
        <p:spPr>
          <a:xfrm>
            <a:off x="6522415" y="4041648"/>
            <a:ext cx="4663440" cy="237744"/>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3. Disjoint Set Union (DSU) Optimization</a:t>
            </a:r>
            <a:endParaRPr lang="en-US" sz="1100" dirty="0"/>
          </a:p>
        </p:txBody>
      </p:sp>
      <p:sp>
        <p:nvSpPr>
          <p:cNvPr id="23" name="Text 21"/>
          <p:cNvSpPr/>
          <p:nvPr/>
        </p:nvSpPr>
        <p:spPr>
          <a:xfrm>
            <a:off x="6522415" y="4279392"/>
            <a:ext cx="4663440" cy="62179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Integrate tree-based path compression to reduce greedy baseline allocation to near-linear O(n * alpha(H)) runtime.</a:t>
            </a:r>
            <a:endParaRPr lang="en-US" sz="950" dirty="0"/>
          </a:p>
        </p:txBody>
      </p:sp>
      <p:sp>
        <p:nvSpPr>
          <p:cNvPr id="24" name="Text 22"/>
          <p:cNvSpPr/>
          <p:nvPr/>
        </p:nvSpPr>
        <p:spPr>
          <a:xfrm>
            <a:off x="6522415" y="4956048"/>
            <a:ext cx="4663440" cy="237744"/>
          </a:xfrm>
          <a:prstGeom prst="rect">
            <a:avLst/>
          </a:prstGeom>
          <a:noFill/>
          <a:ln/>
        </p:spPr>
        <p:txBody>
          <a:bodyPr wrap="square" rtlCol="0" anchor="ctr"/>
          <a:lstStyle/>
          <a:p>
            <a:pPr indent="0" marL="0">
              <a:buNone/>
            </a:pPr>
            <a:r>
              <a:rPr lang="en-US" sz="1100" b="1" dirty="0">
                <a:solidFill>
                  <a:srgbClr val="F59E0B"/>
                </a:solidFill>
                <a:latin typeface="Segoe UI" pitchFamily="34" charset="0"/>
                <a:ea typeface="Segoe UI" pitchFamily="34" charset="-122"/>
                <a:cs typeface="Segoe UI" pitchFamily="34" charset="-120"/>
              </a:rPr>
              <a:t>4. Multi-Slot Failure Resilience (k-Slot Loss)</a:t>
            </a:r>
            <a:endParaRPr lang="en-US" sz="1100" dirty="0"/>
          </a:p>
        </p:txBody>
      </p:sp>
      <p:sp>
        <p:nvSpPr>
          <p:cNvPr id="25" name="Text 23"/>
          <p:cNvSpPr/>
          <p:nvPr/>
        </p:nvSpPr>
        <p:spPr>
          <a:xfrm>
            <a:off x="6522415" y="5193792"/>
            <a:ext cx="4663440" cy="621792"/>
          </a:xfrm>
          <a:prstGeom prst="rect">
            <a:avLst/>
          </a:prstGeom>
          <a:noFill/>
          <a:ln/>
        </p:spPr>
        <p:txBody>
          <a:bodyPr wrap="square" rtlCol="0" anchor="ctr"/>
          <a:lstStyle/>
          <a:p>
            <a:pPr indent="0" marL="0">
              <a:buNone/>
            </a:pPr>
            <a:r>
              <a:rPr lang="en-US" sz="950" dirty="0">
                <a:solidFill>
                  <a:srgbClr val="94A3B8"/>
                </a:solidFill>
                <a:latin typeface="Segoe UI" pitchFamily="34" charset="0"/>
                <a:ea typeface="Segoe UI" pitchFamily="34" charset="-122"/>
                <a:cs typeface="Segoe UI" pitchFamily="34" charset="-120"/>
              </a:rPr>
              <a:t>Model concurrent disruptions where combinations of k slots fail simultaneously, utilizing integer linear programming bounds.</a:t>
            </a:r>
            <a:endParaRPr lang="en-US" sz="950" dirty="0"/>
          </a:p>
        </p:txBody>
      </p:sp>
      <p:sp>
        <p:nvSpPr>
          <p:cNvPr id="26" name="Shape 24"/>
          <p:cNvSpPr/>
          <p:nvPr/>
        </p:nvSpPr>
        <p:spPr>
          <a:xfrm>
            <a:off x="731520" y="6355080"/>
            <a:ext cx="10728655" cy="0"/>
          </a:xfrm>
          <a:prstGeom prst="line">
            <a:avLst/>
          </a:prstGeom>
          <a:noFill/>
          <a:ln w="9525">
            <a:solidFill>
              <a:srgbClr val="334155"/>
            </a:solidFill>
            <a:prstDash val="solid"/>
          </a:ln>
        </p:spPr>
      </p:sp>
      <p:sp>
        <p:nvSpPr>
          <p:cNvPr id="27" name="Text 25"/>
          <p:cNvSpPr/>
          <p:nvPr/>
        </p:nvSpPr>
        <p:spPr>
          <a:xfrm>
            <a:off x="731520" y="6446520"/>
            <a:ext cx="73152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Deadline Scheduler — Algorithm Lab | Design &amp; Analysis of Algorithms</a:t>
            </a:r>
            <a:endParaRPr lang="en-US" sz="900" dirty="0"/>
          </a:p>
        </p:txBody>
      </p:sp>
      <p:sp>
        <p:nvSpPr>
          <p:cNvPr id="28" name="Text 26"/>
          <p:cNvSpPr/>
          <p:nvPr/>
        </p:nvSpPr>
        <p:spPr>
          <a:xfrm>
            <a:off x="9631375" y="6446520"/>
            <a:ext cx="1828800" cy="274320"/>
          </a:xfrm>
          <a:prstGeom prst="rect">
            <a:avLst/>
          </a:prstGeom>
          <a:noFill/>
          <a:ln/>
        </p:spPr>
        <p:txBody>
          <a:bodyPr wrap="square" rtlCol="0" anchor="ctr"/>
          <a:lstStyle/>
          <a:p>
            <a:pPr algn="r" indent="0" marL="0">
              <a:buNone/>
            </a:pPr>
            <a:r>
              <a:rPr lang="en-US" sz="900" b="1" dirty="0">
                <a:solidFill>
                  <a:srgbClr val="64748B"/>
                </a:solidFill>
                <a:latin typeface="Segoe UI" pitchFamily="34" charset="0"/>
                <a:ea typeface="Segoe UI" pitchFamily="34" charset="-122"/>
                <a:cs typeface="Segoe UI" pitchFamily="34" charset="-120"/>
              </a:rPr>
              <a:t>Slide 12 of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2026-10-31T06:55:37Z</dcterms:created>
  <dcterms:modified xsi:type="dcterms:W3CDTF">2026-10-31T06:55:37Z</dcterms:modified>
</cp:coreProperties>
</file>